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457E277-4A6A-D156-7EF1-6E93355AC85D}">
          <p14:sldIdLst>
            <p14:sldId id="256"/>
            <p14:sldId id="257"/>
          </p14:sldIdLst>
        </p14:section>
        <p14:section name="Data and Method" id="{1F2CD958-84E7-5F87-09EF-E7DA6B465D55}">
          <p14:sldIdLst>
            <p14:sldId id="258"/>
            <p14:sldId id="259"/>
            <p14:sldId id="260"/>
          </p14:sldIdLst>
        </p14:section>
        <p14:section name="Results" id="{17C29552-F56F-51E4-C871-A7414F9C89CF}">
          <p14:sldIdLst>
            <p14:sldId id="261"/>
            <p14:sldId id="262"/>
            <p14:sldId id="263"/>
            <p14:sldId id="264"/>
            <p14:sldId id="265"/>
            <p14:sldId id="266"/>
            <p14:sldId id="267"/>
            <p14:sldId id="268"/>
          </p14:sldIdLst>
        </p14:section>
        <p14:section name="Wrap-up" id="{5601EAA2-DE2B-B4C0-36D9-4F5E578A3646}">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p:scale>
          <a:sx n="124" d="100"/>
          <a:sy n="124" d="100"/>
        </p:scale>
        <p:origin x="10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b="0" i="0" u="none" strike="noStrike">
                <a:solidFill>
                  <a:srgbClr val="14181F"/>
                </a:solidFill>
                <a:latin typeface="+mn-lt"/>
              </a:defRPr>
            </a:pPr>
            <a:r>
              <a:rPr lang="en-IN" sz="1600" b="0" i="0" u="none" strike="noStrike">
                <a:solidFill>
                  <a:srgbClr val="14181F"/>
                </a:solidFill>
                <a:latin typeface="+mn-lt"/>
              </a:rPr>
              <a:t>Artists per genre (n = 30)</a:t>
            </a:r>
          </a:p>
        </c:rich>
      </c:tx>
      <c:overlay val="0"/>
    </c:title>
    <c:autoTitleDeleted val="0"/>
    <c:plotArea>
      <c:layout/>
      <c:barChart>
        <c:barDir val="col"/>
        <c:grouping val="clustered"/>
        <c:varyColors val="0"/>
        <c:ser>
          <c:idx val="0"/>
          <c:order val="0"/>
          <c:tx>
            <c:strRef>
              <c:f>Sheet1!$B$1</c:f>
              <c:strCache>
                <c:ptCount val="1"/>
                <c:pt idx="0">
                  <c:v>Artists</c:v>
                </c:pt>
              </c:strCache>
            </c:strRef>
          </c:tx>
          <c:spPr>
            <a:solidFill>
              <a:srgbClr val="457B9D"/>
            </a:solidFill>
            <a:effectLst/>
          </c:spPr>
          <c:invertIfNegative val="0"/>
          <c:dPt>
            <c:idx val="0"/>
            <c:invertIfNegative val="0"/>
            <c:bubble3D val="0"/>
            <c:extLst>
              <c:ext xmlns:c16="http://schemas.microsoft.com/office/drawing/2014/chart" uri="{C3380CC4-5D6E-409C-BE32-E72D297353CC}">
                <c16:uniqueId val="{00000001-B8A1-7644-A7E1-E4C77FE2C97F}"/>
              </c:ext>
            </c:extLst>
          </c:dPt>
          <c:dPt>
            <c:idx val="1"/>
            <c:invertIfNegative val="0"/>
            <c:bubble3D val="0"/>
            <c:spPr>
              <a:solidFill>
                <a:srgbClr val="E63946"/>
              </a:solidFill>
              <a:effectLst/>
            </c:spPr>
            <c:extLst>
              <c:ext xmlns:c16="http://schemas.microsoft.com/office/drawing/2014/chart" uri="{C3380CC4-5D6E-409C-BE32-E72D297353CC}">
                <c16:uniqueId val="{00000003-B8A1-7644-A7E1-E4C77FE2C97F}"/>
              </c:ext>
            </c:extLst>
          </c:dPt>
          <c:dPt>
            <c:idx val="2"/>
            <c:invertIfNegative val="0"/>
            <c:bubble3D val="0"/>
            <c:spPr>
              <a:solidFill>
                <a:srgbClr val="F4A261"/>
              </a:solidFill>
              <a:effectLst/>
            </c:spPr>
            <c:extLst>
              <c:ext xmlns:c16="http://schemas.microsoft.com/office/drawing/2014/chart" uri="{C3380CC4-5D6E-409C-BE32-E72D297353CC}">
                <c16:uniqueId val="{00000005-B8A1-7644-A7E1-E4C77FE2C97F}"/>
              </c:ext>
            </c:extLst>
          </c:dPt>
          <c:dPt>
            <c:idx val="3"/>
            <c:invertIfNegative val="0"/>
            <c:bubble3D val="0"/>
            <c:spPr>
              <a:solidFill>
                <a:srgbClr val="2A9D8F"/>
              </a:solidFill>
              <a:effectLst/>
            </c:spPr>
            <c:extLst>
              <c:ext xmlns:c16="http://schemas.microsoft.com/office/drawing/2014/chart" uri="{C3380CC4-5D6E-409C-BE32-E72D297353CC}">
                <c16:uniqueId val="{00000007-B8A1-7644-A7E1-E4C77FE2C97F}"/>
              </c:ext>
            </c:extLst>
          </c:dPt>
          <c:dPt>
            <c:idx val="4"/>
            <c:invertIfNegative val="0"/>
            <c:bubble3D val="0"/>
            <c:spPr>
              <a:solidFill>
                <a:srgbClr val="FFB703"/>
              </a:solidFill>
              <a:effectLst/>
            </c:spPr>
            <c:extLst>
              <c:ext xmlns:c16="http://schemas.microsoft.com/office/drawing/2014/chart" uri="{C3380CC4-5D6E-409C-BE32-E72D297353CC}">
                <c16:uniqueId val="{00000009-B8A1-7644-A7E1-E4C77FE2C97F}"/>
              </c:ext>
            </c:extLst>
          </c:dPt>
          <c:dPt>
            <c:idx val="5"/>
            <c:invertIfNegative val="0"/>
            <c:bubble3D val="0"/>
            <c:spPr>
              <a:solidFill>
                <a:srgbClr val="6A4C93"/>
              </a:solidFill>
              <a:effectLst/>
            </c:spPr>
            <c:extLst>
              <c:ext xmlns:c16="http://schemas.microsoft.com/office/drawing/2014/chart" uri="{C3380CC4-5D6E-409C-BE32-E72D297353CC}">
                <c16:uniqueId val="{0000000B-B8A1-7644-A7E1-E4C77FE2C97F}"/>
              </c:ext>
            </c:extLst>
          </c:dPt>
          <c:dLbls>
            <c:numFmt formatCode="#,##0" sourceLinked="0"/>
            <c:spPr>
              <a:noFill/>
              <a:ln>
                <a:noFill/>
              </a:ln>
              <a:effectLst/>
            </c:spPr>
            <c:txPr>
              <a:bodyPr/>
              <a:lstStyle/>
              <a:p>
                <a:pPr>
                  <a:defRPr sz="1400" b="0" i="0" u="none" strike="noStrike">
                    <a:solidFill>
                      <a:srgbClr val="1418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Hip-Hop</c:v>
                </c:pt>
                <c:pt idx="1">
                  <c:v>Pop</c:v>
                </c:pt>
                <c:pt idx="2">
                  <c:v>R&amp;B</c:v>
                </c:pt>
                <c:pt idx="3">
                  <c:v>EDM</c:v>
                </c:pt>
                <c:pt idx="4">
                  <c:v>Latin</c:v>
                </c:pt>
                <c:pt idx="5">
                  <c:v>Rock</c:v>
                </c:pt>
              </c:strCache>
            </c:strRef>
          </c:cat>
          <c:val>
            <c:numRef>
              <c:f>Sheet1!$B$2:$B$7</c:f>
              <c:numCache>
                <c:formatCode>General</c:formatCode>
                <c:ptCount val="6"/>
                <c:pt idx="0">
                  <c:v>8</c:v>
                </c:pt>
                <c:pt idx="1">
                  <c:v>7</c:v>
                </c:pt>
                <c:pt idx="2">
                  <c:v>5</c:v>
                </c:pt>
                <c:pt idx="3">
                  <c:v>5</c:v>
                </c:pt>
                <c:pt idx="4">
                  <c:v>3</c:v>
                </c:pt>
                <c:pt idx="5">
                  <c:v>2</c:v>
                </c:pt>
              </c:numCache>
            </c:numRef>
          </c:val>
          <c:extLst>
            <c:ext xmlns:c16="http://schemas.microsoft.com/office/drawing/2014/chart" uri="{C3380CC4-5D6E-409C-BE32-E72D297353CC}">
              <c16:uniqueId val="{0000000C-B8A1-7644-A7E1-E4C77FE2C97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181F"/>
                </a:solidFill>
                <a:latin typeface="+mn-lt"/>
              </a:defRPr>
            </a:pPr>
            <a:endParaRPr lang="en-US"/>
          </a:p>
        </c:txPr>
        <c:crossAx val="2094734552"/>
        <c:crosses val="autoZero"/>
        <c:auto val="1"/>
        <c:lblAlgn val="ctr"/>
        <c:lblOffset val="100"/>
        <c:noMultiLvlLbl val="1"/>
      </c:catAx>
      <c:valAx>
        <c:axId val="2094734552"/>
        <c:scaling>
          <c:orientation val="minMax"/>
          <c:max val="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Collaboration degree</c:v>
                </c:pt>
              </c:strCache>
            </c:strRef>
          </c:tx>
          <c:spPr>
            <a:solidFill>
              <a:srgbClr val="457B9D"/>
            </a:solidFill>
            <a:effectLst/>
          </c:spPr>
          <c:invertIfNegative val="0"/>
          <c:dPt>
            <c:idx val="0"/>
            <c:invertIfNegative val="0"/>
            <c:bubble3D val="0"/>
            <c:extLst>
              <c:ext xmlns:c16="http://schemas.microsoft.com/office/drawing/2014/chart" uri="{C3380CC4-5D6E-409C-BE32-E72D297353CC}">
                <c16:uniqueId val="{00000001-CD0A-ED45-B2E6-59721413E17C}"/>
              </c:ext>
            </c:extLst>
          </c:dPt>
          <c:dPt>
            <c:idx val="1"/>
            <c:invertIfNegative val="0"/>
            <c:bubble3D val="0"/>
            <c:spPr>
              <a:solidFill>
                <a:srgbClr val="E63946"/>
              </a:solidFill>
              <a:effectLst/>
            </c:spPr>
            <c:extLst>
              <c:ext xmlns:c16="http://schemas.microsoft.com/office/drawing/2014/chart" uri="{C3380CC4-5D6E-409C-BE32-E72D297353CC}">
                <c16:uniqueId val="{00000003-CD0A-ED45-B2E6-59721413E17C}"/>
              </c:ext>
            </c:extLst>
          </c:dPt>
          <c:dPt>
            <c:idx val="2"/>
            <c:invertIfNegative val="0"/>
            <c:bubble3D val="0"/>
            <c:extLst>
              <c:ext xmlns:c16="http://schemas.microsoft.com/office/drawing/2014/chart" uri="{C3380CC4-5D6E-409C-BE32-E72D297353CC}">
                <c16:uniqueId val="{00000005-CD0A-ED45-B2E6-59721413E17C}"/>
              </c:ext>
            </c:extLst>
          </c:dPt>
          <c:dPt>
            <c:idx val="3"/>
            <c:invertIfNegative val="0"/>
            <c:bubble3D val="0"/>
            <c:extLst>
              <c:ext xmlns:c16="http://schemas.microsoft.com/office/drawing/2014/chart" uri="{C3380CC4-5D6E-409C-BE32-E72D297353CC}">
                <c16:uniqueId val="{00000007-CD0A-ED45-B2E6-59721413E17C}"/>
              </c:ext>
            </c:extLst>
          </c:dPt>
          <c:dPt>
            <c:idx val="4"/>
            <c:invertIfNegative val="0"/>
            <c:bubble3D val="0"/>
            <c:extLst>
              <c:ext xmlns:c16="http://schemas.microsoft.com/office/drawing/2014/chart" uri="{C3380CC4-5D6E-409C-BE32-E72D297353CC}">
                <c16:uniqueId val="{00000009-CD0A-ED45-B2E6-59721413E17C}"/>
              </c:ext>
            </c:extLst>
          </c:dPt>
          <c:dPt>
            <c:idx val="5"/>
            <c:invertIfNegative val="0"/>
            <c:bubble3D val="0"/>
            <c:spPr>
              <a:solidFill>
                <a:srgbClr val="F4A261"/>
              </a:solidFill>
              <a:effectLst/>
            </c:spPr>
            <c:extLst>
              <c:ext xmlns:c16="http://schemas.microsoft.com/office/drawing/2014/chart" uri="{C3380CC4-5D6E-409C-BE32-E72D297353CC}">
                <c16:uniqueId val="{0000000B-CD0A-ED45-B2E6-59721413E17C}"/>
              </c:ext>
            </c:extLst>
          </c:dPt>
          <c:dPt>
            <c:idx val="6"/>
            <c:invertIfNegative val="0"/>
            <c:bubble3D val="0"/>
            <c:spPr>
              <a:solidFill>
                <a:srgbClr val="FFB703"/>
              </a:solidFill>
              <a:effectLst/>
            </c:spPr>
            <c:extLst>
              <c:ext xmlns:c16="http://schemas.microsoft.com/office/drawing/2014/chart" uri="{C3380CC4-5D6E-409C-BE32-E72D297353CC}">
                <c16:uniqueId val="{0000000D-CD0A-ED45-B2E6-59721413E17C}"/>
              </c:ext>
            </c:extLst>
          </c:dPt>
          <c:dPt>
            <c:idx val="7"/>
            <c:invertIfNegative val="0"/>
            <c:bubble3D val="0"/>
            <c:spPr>
              <a:solidFill>
                <a:srgbClr val="E63946"/>
              </a:solidFill>
              <a:effectLst/>
            </c:spPr>
            <c:extLst>
              <c:ext xmlns:c16="http://schemas.microsoft.com/office/drawing/2014/chart" uri="{C3380CC4-5D6E-409C-BE32-E72D297353CC}">
                <c16:uniqueId val="{0000000F-CD0A-ED45-B2E6-59721413E17C}"/>
              </c:ext>
            </c:extLst>
          </c:dPt>
          <c:dPt>
            <c:idx val="8"/>
            <c:invertIfNegative val="0"/>
            <c:bubble3D val="0"/>
            <c:spPr>
              <a:solidFill>
                <a:srgbClr val="E63946"/>
              </a:solidFill>
              <a:effectLst/>
            </c:spPr>
            <c:extLst>
              <c:ext xmlns:c16="http://schemas.microsoft.com/office/drawing/2014/chart" uri="{C3380CC4-5D6E-409C-BE32-E72D297353CC}">
                <c16:uniqueId val="{00000011-CD0A-ED45-B2E6-59721413E17C}"/>
              </c:ext>
            </c:extLst>
          </c:dPt>
          <c:dPt>
            <c:idx val="9"/>
            <c:invertIfNegative val="0"/>
            <c:bubble3D val="0"/>
            <c:spPr>
              <a:solidFill>
                <a:srgbClr val="E63946"/>
              </a:solidFill>
              <a:effectLst/>
            </c:spPr>
            <c:extLst>
              <c:ext xmlns:c16="http://schemas.microsoft.com/office/drawing/2014/chart" uri="{C3380CC4-5D6E-409C-BE32-E72D297353CC}">
                <c16:uniqueId val="{00000013-CD0A-ED45-B2E6-59721413E17C}"/>
              </c:ext>
            </c:extLst>
          </c:dPt>
          <c:dPt>
            <c:idx val="10"/>
            <c:invertIfNegative val="0"/>
            <c:bubble3D val="0"/>
            <c:extLst>
              <c:ext xmlns:c16="http://schemas.microsoft.com/office/drawing/2014/chart" uri="{C3380CC4-5D6E-409C-BE32-E72D297353CC}">
                <c16:uniqueId val="{00000015-CD0A-ED45-B2E6-59721413E17C}"/>
              </c:ext>
            </c:extLst>
          </c:dPt>
          <c:dPt>
            <c:idx val="11"/>
            <c:invertIfNegative val="0"/>
            <c:bubble3D val="0"/>
            <c:extLst>
              <c:ext xmlns:c16="http://schemas.microsoft.com/office/drawing/2014/chart" uri="{C3380CC4-5D6E-409C-BE32-E72D297353CC}">
                <c16:uniqueId val="{00000017-CD0A-ED45-B2E6-59721413E17C}"/>
              </c:ext>
            </c:extLst>
          </c:dPt>
          <c:dPt>
            <c:idx val="12"/>
            <c:invertIfNegative val="0"/>
            <c:bubble3D val="0"/>
            <c:spPr>
              <a:solidFill>
                <a:srgbClr val="2A9D8F"/>
              </a:solidFill>
              <a:effectLst/>
            </c:spPr>
            <c:extLst>
              <c:ext xmlns:c16="http://schemas.microsoft.com/office/drawing/2014/chart" uri="{C3380CC4-5D6E-409C-BE32-E72D297353CC}">
                <c16:uniqueId val="{00000019-CD0A-ED45-B2E6-59721413E17C}"/>
              </c:ext>
            </c:extLst>
          </c:dPt>
          <c:dPt>
            <c:idx val="13"/>
            <c:invertIfNegative val="0"/>
            <c:bubble3D val="0"/>
            <c:spPr>
              <a:solidFill>
                <a:srgbClr val="2A9D8F"/>
              </a:solidFill>
              <a:effectLst/>
            </c:spPr>
            <c:extLst>
              <c:ext xmlns:c16="http://schemas.microsoft.com/office/drawing/2014/chart" uri="{C3380CC4-5D6E-409C-BE32-E72D297353CC}">
                <c16:uniqueId val="{0000001B-CD0A-ED45-B2E6-59721413E17C}"/>
              </c:ext>
            </c:extLst>
          </c:dPt>
          <c:dPt>
            <c:idx val="14"/>
            <c:invertIfNegative val="0"/>
            <c:bubble3D val="0"/>
            <c:spPr>
              <a:solidFill>
                <a:srgbClr val="FFB703"/>
              </a:solidFill>
              <a:effectLst/>
            </c:spPr>
            <c:extLst>
              <c:ext xmlns:c16="http://schemas.microsoft.com/office/drawing/2014/chart" uri="{C3380CC4-5D6E-409C-BE32-E72D297353CC}">
                <c16:uniqueId val="{0000001D-CD0A-ED45-B2E6-59721413E17C}"/>
              </c:ext>
            </c:extLst>
          </c:dPt>
          <c:dLbls>
            <c:numFmt formatCode="#,##0" sourceLinked="0"/>
            <c:spPr>
              <a:noFill/>
              <a:ln>
                <a:noFill/>
              </a:ln>
              <a:effectLst/>
            </c:spPr>
            <c:txPr>
              <a:bodyPr/>
              <a:lstStyle/>
              <a:p>
                <a:pPr>
                  <a:defRPr sz="1200" b="0" i="0" u="none" strike="noStrike">
                    <a:solidFill>
                      <a:srgbClr val="1418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Drake</c:v>
                </c:pt>
                <c:pt idx="1">
                  <c:v>Selena Gomez</c:v>
                </c:pt>
                <c:pt idx="2">
                  <c:v>Kendrick Lamar</c:v>
                </c:pt>
                <c:pt idx="3">
                  <c:v>Cardi B</c:v>
                </c:pt>
                <c:pt idx="4">
                  <c:v>Nicki Minaj</c:v>
                </c:pt>
                <c:pt idx="5">
                  <c:v>Rihanna</c:v>
                </c:pt>
                <c:pt idx="6">
                  <c:v>Bad Bunny</c:v>
                </c:pt>
                <c:pt idx="7">
                  <c:v>Ed Sheeran</c:v>
                </c:pt>
                <c:pt idx="8">
                  <c:v>Justin Bieber</c:v>
                </c:pt>
                <c:pt idx="9">
                  <c:v>Ariana Grande</c:v>
                </c:pt>
                <c:pt idx="10">
                  <c:v>Travis Scott</c:v>
                </c:pt>
                <c:pt idx="11">
                  <c:v>Eminem</c:v>
                </c:pt>
                <c:pt idx="12">
                  <c:v>Calvin Harris</c:v>
                </c:pt>
                <c:pt idx="13">
                  <c:v>David Guetta</c:v>
                </c:pt>
                <c:pt idx="14">
                  <c:v>J Balvin</c:v>
                </c:pt>
              </c:strCache>
            </c:strRef>
          </c:cat>
          <c:val>
            <c:numRef>
              <c:f>Sheet1!$B$2:$B$16</c:f>
              <c:numCache>
                <c:formatCode>General</c:formatCode>
                <c:ptCount val="15"/>
                <c:pt idx="0">
                  <c:v>4</c:v>
                </c:pt>
                <c:pt idx="1">
                  <c:v>3</c:v>
                </c:pt>
                <c:pt idx="2">
                  <c:v>3</c:v>
                </c:pt>
                <c:pt idx="3">
                  <c:v>3</c:v>
                </c:pt>
                <c:pt idx="4">
                  <c:v>3</c:v>
                </c:pt>
                <c:pt idx="5">
                  <c:v>3</c:v>
                </c:pt>
                <c:pt idx="6">
                  <c:v>3</c:v>
                </c:pt>
                <c:pt idx="7">
                  <c:v>2</c:v>
                </c:pt>
                <c:pt idx="8">
                  <c:v>2</c:v>
                </c:pt>
                <c:pt idx="9">
                  <c:v>2</c:v>
                </c:pt>
                <c:pt idx="10">
                  <c:v>2</c:v>
                </c:pt>
                <c:pt idx="11">
                  <c:v>2</c:v>
                </c:pt>
                <c:pt idx="12">
                  <c:v>2</c:v>
                </c:pt>
                <c:pt idx="13">
                  <c:v>2</c:v>
                </c:pt>
                <c:pt idx="14">
                  <c:v>2</c:v>
                </c:pt>
              </c:numCache>
            </c:numRef>
          </c:val>
          <c:extLst>
            <c:ext xmlns:c16="http://schemas.microsoft.com/office/drawing/2014/chart" uri="{C3380CC4-5D6E-409C-BE32-E72D297353CC}">
              <c16:uniqueId val="{0000001E-CD0A-ED45-B2E6-59721413E17C}"/>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181F"/>
                </a:solidFill>
                <a:latin typeface="+mn-lt"/>
              </a:defRPr>
            </a:pPr>
            <a:endParaRPr lang="en-US"/>
          </a:p>
        </c:txPr>
        <c:crossAx val="2094734552"/>
        <c:crosses val="autoZero"/>
        <c:auto val="1"/>
        <c:lblAlgn val="ctr"/>
        <c:lblOffset val="100"/>
        <c:noMultiLvlLbl val="1"/>
      </c:catAx>
      <c:valAx>
        <c:axId val="2094734552"/>
        <c:scaling>
          <c:orientation val="minMax"/>
          <c:max val="4.599999999999999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b="0" i="0" u="none" strike="noStrike">
                <a:solidFill>
                  <a:srgbClr val="14181F"/>
                </a:solidFill>
                <a:latin typeface="+mn-lt"/>
              </a:defRPr>
            </a:pPr>
            <a:r>
              <a:rPr lang="en-IN" sz="1600" b="0" i="0" u="none" strike="noStrike">
                <a:solidFill>
                  <a:srgbClr val="14181F"/>
                </a:solidFill>
                <a:latin typeface="+mn-lt"/>
              </a:rPr>
              <a:t>Number of artists at each degree</a:t>
            </a:r>
          </a:p>
        </c:rich>
      </c:tx>
      <c:overlay val="0"/>
    </c:title>
    <c:autoTitleDeleted val="0"/>
    <c:plotArea>
      <c:layout/>
      <c:barChart>
        <c:barDir val="col"/>
        <c:grouping val="clustered"/>
        <c:varyColors val="0"/>
        <c:ser>
          <c:idx val="0"/>
          <c:order val="0"/>
          <c:tx>
            <c:strRef>
              <c:f>Sheet1!$B$1</c:f>
              <c:strCache>
                <c:ptCount val="1"/>
                <c:pt idx="0">
                  <c:v>Artists</c:v>
                </c:pt>
              </c:strCache>
            </c:strRef>
          </c:tx>
          <c:spPr>
            <a:solidFill>
              <a:srgbClr val="457B9D"/>
            </a:solidFill>
            <a:effectLst/>
          </c:spPr>
          <c:invertIfNegative val="0"/>
          <c:dLbls>
            <c:numFmt formatCode="#,##0" sourceLinked="0"/>
            <c:spPr>
              <a:noFill/>
              <a:ln>
                <a:noFill/>
              </a:ln>
              <a:effectLst/>
            </c:spPr>
            <c:txPr>
              <a:bodyPr/>
              <a:lstStyle/>
              <a:p>
                <a:pPr>
                  <a:defRPr sz="1400" b="0" i="0" u="none" strike="noStrike">
                    <a:solidFill>
                      <a:srgbClr val="1418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v>
                </c:pt>
                <c:pt idx="1">
                  <c:v>1</c:v>
                </c:pt>
                <c:pt idx="2">
                  <c:v>2</c:v>
                </c:pt>
                <c:pt idx="3">
                  <c:v>3</c:v>
                </c:pt>
                <c:pt idx="4">
                  <c:v>4</c:v>
                </c:pt>
              </c:strCache>
            </c:strRef>
          </c:cat>
          <c:val>
            <c:numRef>
              <c:f>Sheet1!$B$2:$B$6</c:f>
              <c:numCache>
                <c:formatCode>General</c:formatCode>
                <c:ptCount val="5"/>
                <c:pt idx="0">
                  <c:v>1</c:v>
                </c:pt>
                <c:pt idx="1">
                  <c:v>14</c:v>
                </c:pt>
                <c:pt idx="2">
                  <c:v>8</c:v>
                </c:pt>
                <c:pt idx="3">
                  <c:v>6</c:v>
                </c:pt>
                <c:pt idx="4">
                  <c:v>1</c:v>
                </c:pt>
              </c:numCache>
            </c:numRef>
          </c:val>
          <c:extLst>
            <c:ext xmlns:c16="http://schemas.microsoft.com/office/drawing/2014/chart" uri="{C3380CC4-5D6E-409C-BE32-E72D297353CC}">
              <c16:uniqueId val="{00000000-B51D-0A44-A267-12B15210184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200" b="0" i="0" u="none" strike="noStrike">
                    <a:solidFill>
                      <a:srgbClr val="4A5362"/>
                    </a:solidFill>
                    <a:latin typeface="+mn-lt"/>
                  </a:defRPr>
                </a:pPr>
                <a:r>
                  <a:rPr lang="en-IN" sz="1200" b="0" i="0" u="none" strike="noStrike">
                    <a:solidFill>
                      <a:srgbClr val="4A5362"/>
                    </a:solidFill>
                    <a:latin typeface="+mn-lt"/>
                  </a:rPr>
                  <a:t>Degree (collaborations per artist)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181F"/>
                </a:solidFill>
                <a:latin typeface="+mn-lt"/>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9525" cap="flat">
              <a:solidFill>
                <a:srgbClr val="E1E5EB"/>
              </a:solidFill>
              <a:prstDash val="solid"/>
              <a:round/>
            </a:ln>
          </c:spPr>
        </c:majorGridlines>
        <c:title>
          <c:tx>
            <c:rich>
              <a:bodyPr/>
              <a:lstStyle/>
              <a:p>
                <a:pPr>
                  <a:defRPr sz="1200" b="0" i="0" u="none" strike="noStrike">
                    <a:solidFill>
                      <a:srgbClr val="4A5362"/>
                    </a:solidFill>
                    <a:latin typeface="+mn-lt"/>
                  </a:defRPr>
                </a:pPr>
                <a:r>
                  <a:rPr lang="en-IN" sz="1200" b="0" i="0" u="none" strike="noStrike">
                    <a:solidFill>
                      <a:srgbClr val="4A5362"/>
                    </a:solidFill>
                    <a:latin typeface="+mn-lt"/>
                  </a:rPr>
                  <a:t>Artists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362"/>
                </a:solidFill>
                <a:latin typeface="+mn-lt"/>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talk models Spotify artist collaborations as a graph and uses visualization principles (Gestalt mapping, network and cluster views) to expose structure that a flat list of tracks hides.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that track credits are a list, not a picture. The objective is to turn them into a graph and choose visual encodings deliberately. Scope: construction, mapping, clusters,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dataset is a small curated sample typed into the script (artist_genre and collaborations), not an API pull. Derived data: the degree table, community labels and summary metrics are all computed from these two structures.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analysis is Python: NetworkX for the graph work, Matplotlib for figures, Pandas and NumPy for tables and summary numbers. The D3 page is a separate interactive layer on the same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force-directed (spring) layout rather than circular or hierarchical? It implements the Gestalt principle of proximity: artists who collaborate are pulled closer, so clusters and bridge nodes appear without reading the edge list. The six steps map one-to-one to the six parts of the script.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complement flips every collaborated edge into a never-collaborated edge. 409 such pairs against only 26 real ones shows how sparse the network is and surfaces untapped pairings. Twenty One Pilots as an isolate reflects this sample honestly; a larger dataset might still add an edge for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size encodes degree rather than, say, monthly listeners because degree is native to the graph. Mixing in an external metric would combine two data sources in one visual channel and muddy the encoding.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sparse and fragmented: five connected components with sizes 18, 5, 4, 2 and 1. Average degree 1.73 is simply 2 x 26 / 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top-15 degree bar chart from the script, rebuilt as a native chart with bars coloured by genre. Drake is a structural bridge, not just a prolific collaborator inside one scene: his neighbours are Rihanna (R&amp;B), Kendrick Lamar and Travis Scott (Hip-Hop) and Bad Bunny (Latin).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of all degrees is 52, which is twice the 26 edges (handshake lemma). With only 30 vertices, describe the shape as skewed toward low degree rather than claiming a formal heavy tail.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degree_table.csv the script exports. Ties are ordered as pandas sorts them, so the order inside a tie can differ slightly from the earlier bar chart image.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Genre is external metadata; the cluster comes from modularity-based community detection on collaboration structure alone. Where they diverge, collaboration structure cuts across genre labels. Q = 0.68 was computed with networkx's modularity function on the same partition. How would this scale to the full Spotify catalog? A force-directed view degrades into a hairball past a few hundred nodes; switch to an adjacency matrix or pre-aggregate by genre and use node-link only for a filtered subgraph.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D3 page is a standalone HTML file (D3 v7 from cdnjs). Hovering a bar highlights that node and its edges, hovering a node outlines its bar, clicking either isolates the ego-network, and the genre legend filters both views.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outcomes: a clear hub (Drake), a sparse and fragmented network, half the artists on the fringe, and collaboration that cuts across genre labels.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claim about genre measured: the evidence is that clusters and most edges cross genre labels in this sample, which suggests genre alone is a weak guide to creative circles.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biggest limitation: this is a curated sample, so the numbers describe this sample, not Spotify as a whole. Node-link views degrade into a hairball beyond a few hundred nodes, which is why the future-work list ends with matrix and aggregated views.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a spring layout (proximity), what the complement shows (sparsity and untapped pairings), why size encodes degree, how clusters differ from genre, how this scales.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640080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4206240"/>
            <a:ext cx="6400800" cy="82296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
        <p:nvSpPr>
          <p:cNvPr id="4" name="Text 0"/>
          <p:cNvSpPr>
            <a:spLocks noGrp="1"/>
          </p:cNvSpPr>
          <p:nvPr>
            <p:ph type="body" idx="102" hasCustomPrompt="1"/>
          </p:nvPr>
        </p:nvSpPr>
        <p:spPr>
          <a:xfrm>
            <a:off x="731520" y="5440680"/>
            <a:ext cx="6400800" cy="457200"/>
          </a:xfrm>
          <a:prstGeom prst="rect">
            <a:avLst/>
          </a:prstGeom>
          <a:noFill/>
          <a:ln/>
        </p:spPr>
        <p:txBody>
          <a:bodyPr wrap="square" rtlCol="0"/>
          <a:lstStyle>
            <a:lvl1pPr marL="0" indent="0">
              <a:buNone/>
              <a:defRPr lang="en-US" sz="1400" dirty="0">
                <a:solidFill>
                  <a:schemeClr val="bg2"/>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marL="0" indent="0">
              <a:buNone/>
            </a:pPr>
            <a:r>
              <a:rPr lang="en-US" sz="1000" dirty="0">
                <a:solidFill>
                  <a:schemeClr val="tx2"/>
                </a:solidFill>
              </a:rPr>
              <a:t>Visualizing Music Networks  |  DSE3151 Graph Visualization</a:t>
            </a:r>
            <a:endParaRPr lang="en-US" sz="1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3840480"/>
            <a:ext cx="10698480" cy="73152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417320"/>
            <a:ext cx="6400800" cy="320040"/>
          </a:xfrm>
          <a:prstGeom prst="rect">
            <a:avLst/>
          </a:prstGeom>
          <a:noFill/>
          <a:ln/>
        </p:spPr>
        <p:txBody>
          <a:bodyPr wrap="square" lIns="0" tIns="0" rIns="0" bIns="0" rtlCol="0" anchor="t"/>
          <a:lstStyle/>
          <a:p>
            <a:pPr marL="0" indent="0">
              <a:buNone/>
            </a:pPr>
            <a:r>
              <a:rPr lang="en-US" sz="1400" b="1" dirty="0">
                <a:solidFill>
                  <a:schemeClr val="accent1"/>
                </a:solidFill>
              </a:rPr>
              <a:t>DSE3151  |  GRAPH VISUALIZATION</a:t>
            </a:r>
            <a:endParaRPr lang="en-US" sz="1400" dirty="0"/>
          </a:p>
        </p:txBody>
      </p:sp>
      <p:sp>
        <p:nvSpPr>
          <p:cNvPr id="3" name="Text 0"/>
          <p:cNvSpPr>
            <a:spLocks noGrp="1"/>
          </p:cNvSpPr>
          <p:nvPr>
            <p:ph type="title" idx="100" hasCustomPrompt="1"/>
          </p:nvPr>
        </p:nvSpPr>
        <p:spPr>
          <a:xfrm>
            <a:off x="731520" y="1920240"/>
            <a:ext cx="6400800" cy="2103120"/>
          </a:xfrm>
          <a:prstGeom prst="rect">
            <a:avLst/>
          </a:prstGeom>
          <a:noFill/>
          <a:ln/>
        </p:spPr>
        <p:txBody>
          <a:bodyPr wrap="square" lIns="0" tIns="0" rIns="0" bIns="0" rtlCol="0" anchor="b"/>
          <a:lstStyle/>
          <a:p>
            <a:pPr marL="0" indent="0" algn="l">
              <a:buNone/>
            </a:pPr>
            <a:r>
              <a:rPr lang="en-US" sz="4400" b="1" dirty="0">
                <a:solidFill>
                  <a:schemeClr val="bg1"/>
                </a:solidFill>
              </a:rPr>
              <a:t>Visualizing Music Networks</a:t>
            </a:r>
            <a:endParaRPr lang="en-US" sz="4400" dirty="0"/>
          </a:p>
        </p:txBody>
      </p:sp>
      <p:sp>
        <p:nvSpPr>
          <p:cNvPr id="4" name="Text 0"/>
          <p:cNvSpPr>
            <a:spLocks noGrp="1"/>
          </p:cNvSpPr>
          <p:nvPr>
            <p:ph type="body" idx="101" hasCustomPrompt="1"/>
          </p:nvPr>
        </p:nvSpPr>
        <p:spPr>
          <a:xfrm>
            <a:off x="731520" y="4206240"/>
            <a:ext cx="6400800" cy="822960"/>
          </a:xfrm>
          <a:prstGeom prst="rect">
            <a:avLst/>
          </a:prstGeom>
          <a:noFill/>
          <a:ln/>
        </p:spPr>
        <p:txBody>
          <a:bodyPr wrap="square" lIns="0" tIns="0" rIns="0" bIns="0" rtlCol="0" anchor="t"/>
          <a:lstStyle/>
          <a:p>
            <a:pPr marL="0" indent="0">
              <a:buNone/>
            </a:pPr>
            <a:r>
              <a:rPr lang="en-US" sz="2000" dirty="0">
                <a:solidFill>
                  <a:schemeClr val="bg1"/>
                </a:solidFill>
              </a:rPr>
              <a:t>Spotify artist collaborations and genre clusters</a:t>
            </a:r>
            <a:endParaRPr lang="en-US" sz="2000" dirty="0"/>
          </a:p>
        </p:txBody>
      </p:sp>
      <p:sp>
        <p:nvSpPr>
          <p:cNvPr id="5" name="Text 0"/>
          <p:cNvSpPr>
            <a:spLocks noGrp="1"/>
          </p:cNvSpPr>
          <p:nvPr>
            <p:ph type="body" idx="102" hasCustomPrompt="1"/>
          </p:nvPr>
        </p:nvSpPr>
        <p:spPr>
          <a:xfrm>
            <a:off x="731520" y="5440680"/>
            <a:ext cx="6400800" cy="457200"/>
          </a:xfrm>
          <a:prstGeom prst="rect">
            <a:avLst/>
          </a:prstGeom>
          <a:noFill/>
          <a:ln/>
        </p:spPr>
        <p:txBody>
          <a:bodyPr wrap="square" lIns="0" tIns="0" rIns="0" bIns="0" rtlCol="0" anchor="t"/>
          <a:lstStyle/>
          <a:p>
            <a:pPr marL="0" indent="0">
              <a:buNone/>
            </a:pPr>
            <a:r>
              <a:rPr lang="en-US" sz="1400" dirty="0">
                <a:solidFill>
                  <a:schemeClr val="bg2"/>
                </a:solidFill>
              </a:rPr>
              <a:t>Presented by Faizaan Khan</a:t>
            </a:r>
            <a:endParaRPr lang="en-US" sz="1400" dirty="0"/>
          </a:p>
        </p:txBody>
      </p:sp>
      <p:sp>
        <p:nvSpPr>
          <p:cNvPr id="6" name="Edge 0"/>
          <p:cNvSpPr/>
          <p:nvPr/>
        </p:nvSpPr>
        <p:spPr>
          <a:xfrm>
            <a:off x="8275320" y="2560320"/>
            <a:ext cx="1554480" cy="1097280"/>
          </a:xfrm>
          <a:prstGeom prst="line">
            <a:avLst/>
          </a:prstGeom>
          <a:noFill/>
          <a:ln w="25400">
            <a:solidFill>
              <a:schemeClr val="tx2"/>
            </a:solidFill>
            <a:prstDash val="solid"/>
          </a:ln>
        </p:spPr>
        <p:txBody>
          <a:bodyPr/>
          <a:lstStyle/>
          <a:p>
            <a:endParaRPr lang="en-US"/>
          </a:p>
        </p:txBody>
      </p:sp>
      <p:sp>
        <p:nvSpPr>
          <p:cNvPr id="7" name="Edge 1"/>
          <p:cNvSpPr/>
          <p:nvPr/>
        </p:nvSpPr>
        <p:spPr>
          <a:xfrm flipV="1">
            <a:off x="9829800" y="2377440"/>
            <a:ext cx="1188720" cy="1280160"/>
          </a:xfrm>
          <a:prstGeom prst="line">
            <a:avLst/>
          </a:prstGeom>
          <a:noFill/>
          <a:ln w="25400">
            <a:solidFill>
              <a:schemeClr val="tx2"/>
            </a:solidFill>
            <a:prstDash val="solid"/>
          </a:ln>
        </p:spPr>
        <p:txBody>
          <a:bodyPr/>
          <a:lstStyle/>
          <a:p>
            <a:endParaRPr lang="en-US"/>
          </a:p>
        </p:txBody>
      </p:sp>
      <p:sp>
        <p:nvSpPr>
          <p:cNvPr id="8" name="Edge 2"/>
          <p:cNvSpPr/>
          <p:nvPr/>
        </p:nvSpPr>
        <p:spPr>
          <a:xfrm>
            <a:off x="9829800" y="3657600"/>
            <a:ext cx="1280160" cy="1097280"/>
          </a:xfrm>
          <a:prstGeom prst="line">
            <a:avLst/>
          </a:prstGeom>
          <a:noFill/>
          <a:ln w="25400">
            <a:solidFill>
              <a:schemeClr val="tx2"/>
            </a:solidFill>
            <a:prstDash val="solid"/>
          </a:ln>
        </p:spPr>
        <p:txBody>
          <a:bodyPr/>
          <a:lstStyle/>
          <a:p>
            <a:endParaRPr lang="en-US"/>
          </a:p>
        </p:txBody>
      </p:sp>
      <p:sp>
        <p:nvSpPr>
          <p:cNvPr id="9" name="Edge 3"/>
          <p:cNvSpPr/>
          <p:nvPr/>
        </p:nvSpPr>
        <p:spPr>
          <a:xfrm flipV="1">
            <a:off x="8549640" y="3657600"/>
            <a:ext cx="1280160" cy="1188720"/>
          </a:xfrm>
          <a:prstGeom prst="line">
            <a:avLst/>
          </a:prstGeom>
          <a:noFill/>
          <a:ln w="25400">
            <a:solidFill>
              <a:schemeClr val="tx2"/>
            </a:solidFill>
            <a:prstDash val="solid"/>
          </a:ln>
        </p:spPr>
        <p:txBody>
          <a:bodyPr/>
          <a:lstStyle/>
          <a:p>
            <a:endParaRPr lang="en-US"/>
          </a:p>
        </p:txBody>
      </p:sp>
      <p:sp>
        <p:nvSpPr>
          <p:cNvPr id="10" name="Edge 4"/>
          <p:cNvSpPr/>
          <p:nvPr/>
        </p:nvSpPr>
        <p:spPr>
          <a:xfrm>
            <a:off x="7726680" y="1280160"/>
            <a:ext cx="548640" cy="1280160"/>
          </a:xfrm>
          <a:prstGeom prst="line">
            <a:avLst/>
          </a:prstGeom>
          <a:noFill/>
          <a:ln w="25400">
            <a:solidFill>
              <a:schemeClr val="tx2"/>
            </a:solidFill>
            <a:prstDash val="solid"/>
          </a:ln>
        </p:spPr>
        <p:txBody>
          <a:bodyPr/>
          <a:lstStyle/>
          <a:p>
            <a:endParaRPr lang="en-US"/>
          </a:p>
        </p:txBody>
      </p:sp>
      <p:sp>
        <p:nvSpPr>
          <p:cNvPr id="11" name="Edge 5"/>
          <p:cNvSpPr/>
          <p:nvPr/>
        </p:nvSpPr>
        <p:spPr>
          <a:xfrm flipV="1">
            <a:off x="11018520" y="1188720"/>
            <a:ext cx="548640" cy="1188720"/>
          </a:xfrm>
          <a:prstGeom prst="line">
            <a:avLst/>
          </a:prstGeom>
          <a:noFill/>
          <a:ln w="25400">
            <a:solidFill>
              <a:schemeClr val="tx2"/>
            </a:solidFill>
            <a:prstDash val="solid"/>
          </a:ln>
        </p:spPr>
        <p:txBody>
          <a:bodyPr/>
          <a:lstStyle/>
          <a:p>
            <a:endParaRPr lang="en-US"/>
          </a:p>
        </p:txBody>
      </p:sp>
      <p:sp>
        <p:nvSpPr>
          <p:cNvPr id="12" name="Edge 6"/>
          <p:cNvSpPr/>
          <p:nvPr/>
        </p:nvSpPr>
        <p:spPr>
          <a:xfrm>
            <a:off x="11109960" y="4754880"/>
            <a:ext cx="457200" cy="1005840"/>
          </a:xfrm>
          <a:prstGeom prst="line">
            <a:avLst/>
          </a:prstGeom>
          <a:noFill/>
          <a:ln w="25400">
            <a:solidFill>
              <a:schemeClr val="tx2"/>
            </a:solidFill>
            <a:prstDash val="solid"/>
          </a:ln>
        </p:spPr>
        <p:txBody>
          <a:bodyPr/>
          <a:lstStyle/>
          <a:p>
            <a:endParaRPr lang="en-US"/>
          </a:p>
        </p:txBody>
      </p:sp>
      <p:sp>
        <p:nvSpPr>
          <p:cNvPr id="13" name="Edge 7"/>
          <p:cNvSpPr/>
          <p:nvPr/>
        </p:nvSpPr>
        <p:spPr>
          <a:xfrm flipV="1">
            <a:off x="7818120" y="4846320"/>
            <a:ext cx="731520" cy="914400"/>
          </a:xfrm>
          <a:prstGeom prst="line">
            <a:avLst/>
          </a:prstGeom>
          <a:noFill/>
          <a:ln w="25400">
            <a:solidFill>
              <a:schemeClr val="tx2"/>
            </a:solidFill>
            <a:prstDash val="solid"/>
          </a:ln>
        </p:spPr>
        <p:txBody>
          <a:bodyPr/>
          <a:lstStyle/>
          <a:p>
            <a:endParaRPr lang="en-US"/>
          </a:p>
        </p:txBody>
      </p:sp>
      <p:sp>
        <p:nvSpPr>
          <p:cNvPr id="14" name="Edge 8"/>
          <p:cNvSpPr/>
          <p:nvPr/>
        </p:nvSpPr>
        <p:spPr>
          <a:xfrm>
            <a:off x="8549640" y="4846320"/>
            <a:ext cx="1188720" cy="822960"/>
          </a:xfrm>
          <a:prstGeom prst="line">
            <a:avLst/>
          </a:prstGeom>
          <a:noFill/>
          <a:ln w="25400">
            <a:solidFill>
              <a:schemeClr val="tx2"/>
            </a:solidFill>
            <a:prstDash val="solid"/>
          </a:ln>
        </p:spPr>
        <p:txBody>
          <a:bodyPr/>
          <a:lstStyle/>
          <a:p>
            <a:endParaRPr lang="en-US"/>
          </a:p>
        </p:txBody>
      </p:sp>
      <p:sp>
        <p:nvSpPr>
          <p:cNvPr id="15" name="Node Drake"/>
          <p:cNvSpPr/>
          <p:nvPr/>
        </p:nvSpPr>
        <p:spPr>
          <a:xfrm>
            <a:off x="9500616" y="3328416"/>
            <a:ext cx="658368" cy="658368"/>
          </a:xfrm>
          <a:prstGeom prst="ellipse">
            <a:avLst/>
          </a:prstGeom>
          <a:solidFill>
            <a:srgbClr val="457B9D"/>
          </a:solidFill>
          <a:ln w="19050">
            <a:solidFill>
              <a:schemeClr val="bg1"/>
            </a:solidFill>
            <a:prstDash val="solid"/>
          </a:ln>
        </p:spPr>
        <p:txBody>
          <a:bodyPr/>
          <a:lstStyle/>
          <a:p>
            <a:endParaRPr lang="en-US"/>
          </a:p>
        </p:txBody>
      </p:sp>
      <p:sp>
        <p:nvSpPr>
          <p:cNvPr id="16" name="Node Rihanna"/>
          <p:cNvSpPr/>
          <p:nvPr/>
        </p:nvSpPr>
        <p:spPr>
          <a:xfrm>
            <a:off x="8019288" y="2304288"/>
            <a:ext cx="512064" cy="512064"/>
          </a:xfrm>
          <a:prstGeom prst="ellipse">
            <a:avLst/>
          </a:prstGeom>
          <a:solidFill>
            <a:srgbClr val="F4A261"/>
          </a:solidFill>
          <a:ln w="19050">
            <a:solidFill>
              <a:schemeClr val="bg1"/>
            </a:solidFill>
            <a:prstDash val="solid"/>
          </a:ln>
        </p:spPr>
        <p:txBody>
          <a:bodyPr/>
          <a:lstStyle/>
          <a:p>
            <a:endParaRPr lang="en-US"/>
          </a:p>
        </p:txBody>
      </p:sp>
      <p:sp>
        <p:nvSpPr>
          <p:cNvPr id="17" name="Node Kendrick"/>
          <p:cNvSpPr/>
          <p:nvPr/>
        </p:nvSpPr>
        <p:spPr>
          <a:xfrm>
            <a:off x="10762488" y="2121408"/>
            <a:ext cx="512064" cy="512064"/>
          </a:xfrm>
          <a:prstGeom prst="ellipse">
            <a:avLst/>
          </a:prstGeom>
          <a:solidFill>
            <a:srgbClr val="457B9D"/>
          </a:solidFill>
          <a:ln w="19050">
            <a:solidFill>
              <a:schemeClr val="bg1"/>
            </a:solidFill>
            <a:prstDash val="solid"/>
          </a:ln>
        </p:spPr>
        <p:txBody>
          <a:bodyPr/>
          <a:lstStyle/>
          <a:p>
            <a:endParaRPr lang="en-US"/>
          </a:p>
        </p:txBody>
      </p:sp>
      <p:sp>
        <p:nvSpPr>
          <p:cNvPr id="18" name="Node Travis"/>
          <p:cNvSpPr/>
          <p:nvPr/>
        </p:nvSpPr>
        <p:spPr>
          <a:xfrm>
            <a:off x="10890504" y="4535424"/>
            <a:ext cx="438912" cy="438912"/>
          </a:xfrm>
          <a:prstGeom prst="ellipse">
            <a:avLst/>
          </a:prstGeom>
          <a:solidFill>
            <a:srgbClr val="457B9D"/>
          </a:solidFill>
          <a:ln w="19050">
            <a:solidFill>
              <a:schemeClr val="bg1"/>
            </a:solidFill>
            <a:prstDash val="solid"/>
          </a:ln>
        </p:spPr>
        <p:txBody>
          <a:bodyPr/>
          <a:lstStyle/>
          <a:p>
            <a:endParaRPr lang="en-US"/>
          </a:p>
        </p:txBody>
      </p:sp>
      <p:sp>
        <p:nvSpPr>
          <p:cNvPr id="19" name="Node Bunny"/>
          <p:cNvSpPr/>
          <p:nvPr/>
        </p:nvSpPr>
        <p:spPr>
          <a:xfrm>
            <a:off x="8293608" y="4590288"/>
            <a:ext cx="512064" cy="512064"/>
          </a:xfrm>
          <a:prstGeom prst="ellipse">
            <a:avLst/>
          </a:prstGeom>
          <a:solidFill>
            <a:srgbClr val="FFB703"/>
          </a:solidFill>
          <a:ln w="19050">
            <a:solidFill>
              <a:schemeClr val="bg1"/>
            </a:solidFill>
            <a:prstDash val="solid"/>
          </a:ln>
        </p:spPr>
        <p:txBody>
          <a:bodyPr/>
          <a:lstStyle/>
          <a:p>
            <a:endParaRPr lang="en-US"/>
          </a:p>
        </p:txBody>
      </p:sp>
      <p:sp>
        <p:nvSpPr>
          <p:cNvPr id="20" name="Node Calvin"/>
          <p:cNvSpPr/>
          <p:nvPr/>
        </p:nvSpPr>
        <p:spPr>
          <a:xfrm>
            <a:off x="7543800" y="1097280"/>
            <a:ext cx="365760" cy="365760"/>
          </a:xfrm>
          <a:prstGeom prst="ellipse">
            <a:avLst/>
          </a:prstGeom>
          <a:solidFill>
            <a:srgbClr val="2A9D8F"/>
          </a:solidFill>
          <a:ln w="19050">
            <a:solidFill>
              <a:schemeClr val="bg1"/>
            </a:solidFill>
            <a:prstDash val="solid"/>
          </a:ln>
        </p:spPr>
        <p:txBody>
          <a:bodyPr/>
          <a:lstStyle/>
          <a:p>
            <a:endParaRPr lang="en-US"/>
          </a:p>
        </p:txBody>
      </p:sp>
      <p:sp>
        <p:nvSpPr>
          <p:cNvPr id="21" name="Node SZA"/>
          <p:cNvSpPr/>
          <p:nvPr/>
        </p:nvSpPr>
        <p:spPr>
          <a:xfrm>
            <a:off x="11411712" y="1033272"/>
            <a:ext cx="310896" cy="310896"/>
          </a:xfrm>
          <a:prstGeom prst="ellipse">
            <a:avLst/>
          </a:prstGeom>
          <a:solidFill>
            <a:srgbClr val="F4A261"/>
          </a:solidFill>
          <a:ln w="19050">
            <a:solidFill>
              <a:schemeClr val="bg1"/>
            </a:solidFill>
            <a:prstDash val="solid"/>
          </a:ln>
        </p:spPr>
        <p:txBody>
          <a:bodyPr/>
          <a:lstStyle/>
          <a:p>
            <a:endParaRPr lang="en-US"/>
          </a:p>
        </p:txBody>
      </p:sp>
      <p:sp>
        <p:nvSpPr>
          <p:cNvPr id="22" name="Node Post"/>
          <p:cNvSpPr/>
          <p:nvPr/>
        </p:nvSpPr>
        <p:spPr>
          <a:xfrm>
            <a:off x="11411712" y="5605272"/>
            <a:ext cx="310896" cy="310896"/>
          </a:xfrm>
          <a:prstGeom prst="ellipse">
            <a:avLst/>
          </a:prstGeom>
          <a:solidFill>
            <a:srgbClr val="457B9D"/>
          </a:solidFill>
          <a:ln w="19050">
            <a:solidFill>
              <a:schemeClr val="bg1"/>
            </a:solidFill>
            <a:prstDash val="solid"/>
          </a:ln>
        </p:spPr>
        <p:txBody>
          <a:bodyPr/>
          <a:lstStyle/>
          <a:p>
            <a:endParaRPr lang="en-US"/>
          </a:p>
        </p:txBody>
      </p:sp>
      <p:sp>
        <p:nvSpPr>
          <p:cNvPr id="23" name="Node Balvin"/>
          <p:cNvSpPr/>
          <p:nvPr/>
        </p:nvSpPr>
        <p:spPr>
          <a:xfrm>
            <a:off x="7616952" y="5559552"/>
            <a:ext cx="402336" cy="402336"/>
          </a:xfrm>
          <a:prstGeom prst="ellipse">
            <a:avLst/>
          </a:prstGeom>
          <a:solidFill>
            <a:srgbClr val="FFB703"/>
          </a:solidFill>
          <a:ln w="19050">
            <a:solidFill>
              <a:schemeClr val="bg1"/>
            </a:solidFill>
            <a:prstDash val="solid"/>
          </a:ln>
        </p:spPr>
        <p:txBody>
          <a:bodyPr/>
          <a:lstStyle/>
          <a:p>
            <a:endParaRPr lang="en-US"/>
          </a:p>
        </p:txBody>
      </p:sp>
      <p:sp>
        <p:nvSpPr>
          <p:cNvPr id="24" name="Node Cardi"/>
          <p:cNvSpPr/>
          <p:nvPr/>
        </p:nvSpPr>
        <p:spPr>
          <a:xfrm>
            <a:off x="9500616" y="5431536"/>
            <a:ext cx="475488" cy="475488"/>
          </a:xfrm>
          <a:prstGeom prst="ellipse">
            <a:avLst/>
          </a:prstGeom>
          <a:solidFill>
            <a:srgbClr val="457B9D"/>
          </a:solidFill>
          <a:ln w="19050">
            <a:solidFill>
              <a:schemeClr val="bg1"/>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Why map artist collaborations?</a:t>
            </a:r>
            <a:endParaRPr lang="en-US" sz="3400" dirty="0"/>
          </a:p>
        </p:txBody>
      </p:sp>
      <p:sp>
        <p:nvSpPr>
          <p:cNvPr id="3" name="Heading The challenge"/>
          <p:cNvSpPr txBox="1"/>
          <p:nvPr/>
        </p:nvSpPr>
        <p:spPr>
          <a:xfrm>
            <a:off x="548640" y="1463040"/>
            <a:ext cx="6583680" cy="365760"/>
          </a:xfrm>
          <a:prstGeom prst="rect">
            <a:avLst/>
          </a:prstGeom>
          <a:noFill/>
          <a:ln/>
        </p:spPr>
        <p:txBody>
          <a:bodyPr wrap="square" lIns="0" tIns="0" rIns="0" bIns="0" rtlCol="0" anchor="t"/>
          <a:lstStyle/>
          <a:p>
            <a:pPr marL="0" indent="0">
              <a:buNone/>
            </a:pPr>
            <a:r>
              <a:rPr lang="en-US" sz="2000" b="1" dirty="0">
                <a:solidFill>
                  <a:schemeClr val="tx1"/>
                </a:solidFill>
              </a:rPr>
              <a:t>The challenge</a:t>
            </a:r>
            <a:endParaRPr lang="en-US" sz="2000" dirty="0"/>
          </a:p>
        </p:txBody>
      </p:sp>
      <p:sp>
        <p:nvSpPr>
          <p:cNvPr id="4" name="Body The challenge"/>
          <p:cNvSpPr txBox="1"/>
          <p:nvPr/>
        </p:nvSpPr>
        <p:spPr>
          <a:xfrm>
            <a:off x="548640" y="1901952"/>
            <a:ext cx="6583680" cy="1051560"/>
          </a:xfrm>
          <a:prstGeom prst="rect">
            <a:avLst/>
          </a:prstGeom>
          <a:noFill/>
          <a:ln/>
        </p:spPr>
        <p:txBody>
          <a:bodyPr wrap="square" lIns="0" tIns="0" rIns="0" bIns="0" rtlCol="0" anchor="t"/>
          <a:lstStyle/>
          <a:p>
            <a:pPr marL="0" indent="0">
              <a:buNone/>
            </a:pPr>
            <a:r>
              <a:rPr lang="en-US" sz="1600" dirty="0">
                <a:solidFill>
                  <a:schemeClr val="tx2"/>
                </a:solidFill>
              </a:rPr>
              <a:t>A raw list of tracks and featured-artist credits hides the structure behind it: which artists are hubs, which bridge genres, and which never collaborate.</a:t>
            </a:r>
            <a:endParaRPr lang="en-US" sz="1600" dirty="0"/>
          </a:p>
        </p:txBody>
      </p:sp>
      <p:sp>
        <p:nvSpPr>
          <p:cNvPr id="5" name="Heading The objective"/>
          <p:cNvSpPr txBox="1"/>
          <p:nvPr/>
        </p:nvSpPr>
        <p:spPr>
          <a:xfrm>
            <a:off x="548640" y="3063240"/>
            <a:ext cx="6583680" cy="365760"/>
          </a:xfrm>
          <a:prstGeom prst="rect">
            <a:avLst/>
          </a:prstGeom>
          <a:noFill/>
          <a:ln/>
        </p:spPr>
        <p:txBody>
          <a:bodyPr wrap="square" lIns="0" tIns="0" rIns="0" bIns="0" rtlCol="0" anchor="t"/>
          <a:lstStyle/>
          <a:p>
            <a:pPr marL="0" indent="0">
              <a:buNone/>
            </a:pPr>
            <a:r>
              <a:rPr lang="en-US" sz="2000" b="1" dirty="0">
                <a:solidFill>
                  <a:schemeClr val="tx1"/>
                </a:solidFill>
              </a:rPr>
              <a:t>The objective</a:t>
            </a:r>
            <a:endParaRPr lang="en-US" sz="2000" dirty="0"/>
          </a:p>
        </p:txBody>
      </p:sp>
      <p:sp>
        <p:nvSpPr>
          <p:cNvPr id="6" name="Body The objective"/>
          <p:cNvSpPr txBox="1"/>
          <p:nvPr/>
        </p:nvSpPr>
        <p:spPr>
          <a:xfrm>
            <a:off x="548640" y="3502152"/>
            <a:ext cx="6583680" cy="1051560"/>
          </a:xfrm>
          <a:prstGeom prst="rect">
            <a:avLst/>
          </a:prstGeom>
          <a:noFill/>
          <a:ln/>
        </p:spPr>
        <p:txBody>
          <a:bodyPr wrap="square" lIns="0" tIns="0" rIns="0" bIns="0" rtlCol="0" anchor="t"/>
          <a:lstStyle/>
          <a:p>
            <a:pPr marL="0" indent="0">
              <a:buNone/>
            </a:pPr>
            <a:r>
              <a:rPr lang="en-US" sz="1600" dirty="0">
                <a:solidFill>
                  <a:schemeClr val="tx2"/>
                </a:solidFill>
              </a:rPr>
              <a:t>Model the artist ecosystem as a graph, then apply visualization principles (Gestalt-based visual mapping, network and cluster views) to make that structure visible.</a:t>
            </a:r>
            <a:endParaRPr lang="en-US" sz="1600" dirty="0"/>
          </a:p>
        </p:txBody>
      </p:sp>
      <p:sp>
        <p:nvSpPr>
          <p:cNvPr id="7" name="Heading The scope"/>
          <p:cNvSpPr txBox="1"/>
          <p:nvPr/>
        </p:nvSpPr>
        <p:spPr>
          <a:xfrm>
            <a:off x="548640" y="4663440"/>
            <a:ext cx="6583680" cy="365760"/>
          </a:xfrm>
          <a:prstGeom prst="rect">
            <a:avLst/>
          </a:prstGeom>
          <a:noFill/>
          <a:ln/>
        </p:spPr>
        <p:txBody>
          <a:bodyPr wrap="square" lIns="0" tIns="0" rIns="0" bIns="0" rtlCol="0" anchor="t"/>
          <a:lstStyle/>
          <a:p>
            <a:pPr marL="0" indent="0">
              <a:buNone/>
            </a:pPr>
            <a:r>
              <a:rPr lang="en-US" sz="2000" b="1" dirty="0">
                <a:solidFill>
                  <a:schemeClr val="tx1"/>
                </a:solidFill>
              </a:rPr>
              <a:t>The scope</a:t>
            </a:r>
            <a:endParaRPr lang="en-US" sz="2000" dirty="0"/>
          </a:p>
        </p:txBody>
      </p:sp>
      <p:sp>
        <p:nvSpPr>
          <p:cNvPr id="8" name="Body The scope"/>
          <p:cNvSpPr txBox="1"/>
          <p:nvPr/>
        </p:nvSpPr>
        <p:spPr>
          <a:xfrm>
            <a:off x="548640" y="5102352"/>
            <a:ext cx="6583680" cy="1051560"/>
          </a:xfrm>
          <a:prstGeom prst="rect">
            <a:avLst/>
          </a:prstGeom>
          <a:noFill/>
          <a:ln/>
        </p:spPr>
        <p:txBody>
          <a:bodyPr wrap="square" lIns="0" tIns="0" rIns="0" bIns="0" rtlCol="0" anchor="t"/>
          <a:lstStyle/>
          <a:p>
            <a:pPr marL="0" indent="0">
              <a:buNone/>
            </a:pPr>
            <a:r>
              <a:rPr lang="en-US" sz="1600" dirty="0">
                <a:solidFill>
                  <a:schemeClr val="tx2"/>
                </a:solidFill>
              </a:rPr>
              <a:t>Graph construction, visual-design rationale, cluster detection and an evaluation of a 30-artist, 26-collaboration network.</a:t>
            </a:r>
            <a:endParaRPr lang="en-US" sz="1600" dirty="0"/>
          </a:p>
        </p:txBody>
      </p:sp>
      <p:sp>
        <p:nvSpPr>
          <p:cNvPr id="9" name="Stat card artists (vertices)"/>
          <p:cNvSpPr/>
          <p:nvPr/>
        </p:nvSpPr>
        <p:spPr>
          <a:xfrm>
            <a:off x="7772400" y="1463040"/>
            <a:ext cx="3867912" cy="1417320"/>
          </a:xfrm>
          <a:prstGeom prst="roundRect">
            <a:avLst>
              <a:gd name="adj" fmla="val 5161"/>
            </a:avLst>
          </a:prstGeom>
          <a:solidFill>
            <a:schemeClr val="bg2"/>
          </a:solidFill>
          <a:ln/>
        </p:spPr>
        <p:txBody>
          <a:bodyPr/>
          <a:lstStyle/>
          <a:p>
            <a:endParaRPr lang="en-US"/>
          </a:p>
        </p:txBody>
      </p:sp>
      <p:sp>
        <p:nvSpPr>
          <p:cNvPr id="10" name="Stat artists (vertices)"/>
          <p:cNvSpPr txBox="1"/>
          <p:nvPr/>
        </p:nvSpPr>
        <p:spPr>
          <a:xfrm>
            <a:off x="8046720" y="1554480"/>
            <a:ext cx="1554480" cy="123444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30</a:t>
            </a:r>
            <a:endParaRPr lang="en-US" sz="5400" dirty="0"/>
          </a:p>
        </p:txBody>
      </p:sp>
      <p:sp>
        <p:nvSpPr>
          <p:cNvPr id="11" name="Stat label artists (vertices)"/>
          <p:cNvSpPr txBox="1"/>
          <p:nvPr/>
        </p:nvSpPr>
        <p:spPr>
          <a:xfrm>
            <a:off x="9509760" y="1554480"/>
            <a:ext cx="2011680" cy="1234440"/>
          </a:xfrm>
          <a:prstGeom prst="rect">
            <a:avLst/>
          </a:prstGeom>
          <a:noFill/>
          <a:ln/>
        </p:spPr>
        <p:txBody>
          <a:bodyPr wrap="square" lIns="0" tIns="0" rIns="0" bIns="0" rtlCol="0" anchor="ctr"/>
          <a:lstStyle/>
          <a:p>
            <a:pPr marL="0" indent="0">
              <a:buNone/>
            </a:pPr>
            <a:r>
              <a:rPr lang="en-US" sz="1600" dirty="0">
                <a:solidFill>
                  <a:schemeClr val="tx1"/>
                </a:solidFill>
              </a:rPr>
              <a:t>artists (vertices)</a:t>
            </a:r>
            <a:endParaRPr lang="en-US" sz="1600" dirty="0"/>
          </a:p>
        </p:txBody>
      </p:sp>
      <p:sp>
        <p:nvSpPr>
          <p:cNvPr id="12" name="Stat card collaborations (edges)"/>
          <p:cNvSpPr/>
          <p:nvPr/>
        </p:nvSpPr>
        <p:spPr>
          <a:xfrm>
            <a:off x="7772400" y="3063240"/>
            <a:ext cx="3867912" cy="1417320"/>
          </a:xfrm>
          <a:prstGeom prst="roundRect">
            <a:avLst>
              <a:gd name="adj" fmla="val 5161"/>
            </a:avLst>
          </a:prstGeom>
          <a:solidFill>
            <a:schemeClr val="bg2"/>
          </a:solidFill>
          <a:ln/>
        </p:spPr>
        <p:txBody>
          <a:bodyPr/>
          <a:lstStyle/>
          <a:p>
            <a:endParaRPr lang="en-US"/>
          </a:p>
        </p:txBody>
      </p:sp>
      <p:sp>
        <p:nvSpPr>
          <p:cNvPr id="13" name="Stat collaborations (edges)"/>
          <p:cNvSpPr txBox="1"/>
          <p:nvPr/>
        </p:nvSpPr>
        <p:spPr>
          <a:xfrm>
            <a:off x="8046720" y="3154680"/>
            <a:ext cx="1554480" cy="123444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26</a:t>
            </a:r>
            <a:endParaRPr lang="en-US" sz="5400" dirty="0"/>
          </a:p>
        </p:txBody>
      </p:sp>
      <p:sp>
        <p:nvSpPr>
          <p:cNvPr id="14" name="Stat label collaborations (edges)"/>
          <p:cNvSpPr txBox="1"/>
          <p:nvPr/>
        </p:nvSpPr>
        <p:spPr>
          <a:xfrm>
            <a:off x="9509760" y="3154680"/>
            <a:ext cx="2011680" cy="1234440"/>
          </a:xfrm>
          <a:prstGeom prst="rect">
            <a:avLst/>
          </a:prstGeom>
          <a:noFill/>
          <a:ln/>
        </p:spPr>
        <p:txBody>
          <a:bodyPr wrap="square" lIns="0" tIns="0" rIns="0" bIns="0" rtlCol="0" anchor="ctr"/>
          <a:lstStyle/>
          <a:p>
            <a:pPr marL="0" indent="0">
              <a:buNone/>
            </a:pPr>
            <a:r>
              <a:rPr lang="en-US" sz="1600" dirty="0">
                <a:solidFill>
                  <a:schemeClr val="tx1"/>
                </a:solidFill>
              </a:rPr>
              <a:t>collaborations (edges)</a:t>
            </a:r>
            <a:endParaRPr lang="en-US" sz="1600" dirty="0"/>
          </a:p>
        </p:txBody>
      </p:sp>
      <p:sp>
        <p:nvSpPr>
          <p:cNvPr id="15" name="Stat card genres"/>
          <p:cNvSpPr/>
          <p:nvPr/>
        </p:nvSpPr>
        <p:spPr>
          <a:xfrm>
            <a:off x="7772400" y="4663440"/>
            <a:ext cx="3867912" cy="1417320"/>
          </a:xfrm>
          <a:prstGeom prst="roundRect">
            <a:avLst>
              <a:gd name="adj" fmla="val 5161"/>
            </a:avLst>
          </a:prstGeom>
          <a:solidFill>
            <a:schemeClr val="bg2"/>
          </a:solidFill>
          <a:ln/>
        </p:spPr>
        <p:txBody>
          <a:bodyPr/>
          <a:lstStyle/>
          <a:p>
            <a:endParaRPr lang="en-US"/>
          </a:p>
        </p:txBody>
      </p:sp>
      <p:sp>
        <p:nvSpPr>
          <p:cNvPr id="16" name="Stat genres"/>
          <p:cNvSpPr txBox="1"/>
          <p:nvPr/>
        </p:nvSpPr>
        <p:spPr>
          <a:xfrm>
            <a:off x="8046720" y="4754880"/>
            <a:ext cx="1554480" cy="123444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6</a:t>
            </a:r>
            <a:endParaRPr lang="en-US" sz="5400" dirty="0"/>
          </a:p>
        </p:txBody>
      </p:sp>
      <p:sp>
        <p:nvSpPr>
          <p:cNvPr id="17" name="Stat label genres"/>
          <p:cNvSpPr txBox="1"/>
          <p:nvPr/>
        </p:nvSpPr>
        <p:spPr>
          <a:xfrm>
            <a:off x="9509760" y="4754880"/>
            <a:ext cx="2011680" cy="1234440"/>
          </a:xfrm>
          <a:prstGeom prst="rect">
            <a:avLst/>
          </a:prstGeom>
          <a:noFill/>
          <a:ln/>
        </p:spPr>
        <p:txBody>
          <a:bodyPr wrap="square" lIns="0" tIns="0" rIns="0" bIns="0" rtlCol="0" anchor="ctr"/>
          <a:lstStyle/>
          <a:p>
            <a:pPr marL="0" indent="0">
              <a:buNone/>
            </a:pPr>
            <a:r>
              <a:rPr lang="en-US" sz="1600" dirty="0">
                <a:solidFill>
                  <a:schemeClr val="tx1"/>
                </a:solidFill>
              </a:rPr>
              <a:t>genres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Dataset: 30 artists, 26 collaborations</a:t>
            </a:r>
            <a:endParaRPr lang="en-US" sz="3400" dirty="0"/>
          </a:p>
        </p:txBody>
      </p:sp>
      <p:sp>
        <p:nvSpPr>
          <p:cNvPr id="3" name="Genre chart card"/>
          <p:cNvSpPr/>
          <p:nvPr/>
        </p:nvSpPr>
        <p:spPr>
          <a:xfrm>
            <a:off x="548640" y="1463040"/>
            <a:ext cx="5577840" cy="4754880"/>
          </a:xfrm>
          <a:prstGeom prst="roundRect">
            <a:avLst>
              <a:gd name="adj" fmla="val 1538"/>
            </a:avLst>
          </a:prstGeom>
          <a:solidFill>
            <a:schemeClr val="bg2"/>
          </a:solidFill>
          <a:ln/>
        </p:spPr>
        <p:txBody>
          <a:bodyPr/>
          <a:lstStyle/>
          <a:p>
            <a:endParaRPr lang="en-US"/>
          </a:p>
        </p:txBody>
      </p:sp>
      <p:graphicFrame>
        <p:nvGraphicFramePr>
          <p:cNvPr id="4" name="Chart 0"/>
          <p:cNvGraphicFramePr/>
          <p:nvPr/>
        </p:nvGraphicFramePr>
        <p:xfrm>
          <a:off x="731520" y="1554480"/>
          <a:ext cx="52120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Dataset card Artist table"/>
          <p:cNvSpPr/>
          <p:nvPr/>
        </p:nvSpPr>
        <p:spPr>
          <a:xfrm>
            <a:off x="6400800" y="1463040"/>
            <a:ext cx="5239512" cy="1463040"/>
          </a:xfrm>
          <a:prstGeom prst="roundRect">
            <a:avLst>
              <a:gd name="adj" fmla="val 5000"/>
            </a:avLst>
          </a:prstGeom>
          <a:solidFill>
            <a:schemeClr val="bg2"/>
          </a:solidFill>
          <a:ln/>
        </p:spPr>
        <p:txBody>
          <a:bodyPr/>
          <a:lstStyle/>
          <a:p>
            <a:endParaRPr lang="en-US"/>
          </a:p>
        </p:txBody>
      </p:sp>
      <p:sp>
        <p:nvSpPr>
          <p:cNvPr id="6" name="Dataset heading Artist table"/>
          <p:cNvSpPr txBox="1"/>
          <p:nvPr/>
        </p:nvSpPr>
        <p:spPr>
          <a:xfrm>
            <a:off x="6629400" y="1600200"/>
            <a:ext cx="4800600" cy="320040"/>
          </a:xfrm>
          <a:prstGeom prst="rect">
            <a:avLst/>
          </a:prstGeom>
          <a:noFill/>
          <a:ln/>
        </p:spPr>
        <p:txBody>
          <a:bodyPr wrap="square" lIns="0" tIns="0" rIns="0" bIns="0" rtlCol="0" anchor="t"/>
          <a:lstStyle/>
          <a:p>
            <a:pPr marL="0" indent="0">
              <a:buNone/>
            </a:pPr>
            <a:r>
              <a:rPr lang="en-US" sz="1800" b="1" dirty="0">
                <a:solidFill>
                  <a:schemeClr val="tx1"/>
                </a:solidFill>
              </a:rPr>
              <a:t>Artist table</a:t>
            </a:r>
            <a:endParaRPr lang="en-US" sz="1800" dirty="0"/>
          </a:p>
        </p:txBody>
      </p:sp>
      <p:sp>
        <p:nvSpPr>
          <p:cNvPr id="7" name="Dataset body Artist table"/>
          <p:cNvSpPr txBox="1"/>
          <p:nvPr/>
        </p:nvSpPr>
        <p:spPr>
          <a:xfrm>
            <a:off x="6629400" y="1965960"/>
            <a:ext cx="4800600" cy="914400"/>
          </a:xfrm>
          <a:prstGeom prst="rect">
            <a:avLst/>
          </a:prstGeom>
          <a:noFill/>
          <a:ln/>
        </p:spPr>
        <p:txBody>
          <a:bodyPr wrap="square" lIns="0" tIns="0" rIns="0" bIns="0" rtlCol="0" anchor="t"/>
          <a:lstStyle/>
          <a:p>
            <a:pPr marL="0" indent="0">
              <a:buNone/>
            </a:pPr>
            <a:r>
              <a:rPr lang="en-US" sz="1600" dirty="0">
                <a:solidFill>
                  <a:schemeClr val="tx2"/>
                </a:solidFill>
              </a:rPr>
              <a:t>30 artists, each with one genre label (Pop, Hip-Hop, R&amp;B, EDM, Rock, Latin). Stored as the artist_genre dictionary.</a:t>
            </a:r>
            <a:endParaRPr lang="en-US" sz="1600" dirty="0"/>
          </a:p>
        </p:txBody>
      </p:sp>
      <p:sp>
        <p:nvSpPr>
          <p:cNvPr id="8" name="Dataset card Collaboration list"/>
          <p:cNvSpPr/>
          <p:nvPr/>
        </p:nvSpPr>
        <p:spPr>
          <a:xfrm>
            <a:off x="6400800" y="3108960"/>
            <a:ext cx="5239512" cy="1463040"/>
          </a:xfrm>
          <a:prstGeom prst="roundRect">
            <a:avLst>
              <a:gd name="adj" fmla="val 5000"/>
            </a:avLst>
          </a:prstGeom>
          <a:solidFill>
            <a:schemeClr val="bg2"/>
          </a:solidFill>
          <a:ln/>
        </p:spPr>
        <p:txBody>
          <a:bodyPr/>
          <a:lstStyle/>
          <a:p>
            <a:endParaRPr lang="en-US"/>
          </a:p>
        </p:txBody>
      </p:sp>
      <p:sp>
        <p:nvSpPr>
          <p:cNvPr id="9" name="Dataset heading Collaboration list"/>
          <p:cNvSpPr txBox="1"/>
          <p:nvPr/>
        </p:nvSpPr>
        <p:spPr>
          <a:xfrm>
            <a:off x="6629400" y="3246120"/>
            <a:ext cx="4800600" cy="320040"/>
          </a:xfrm>
          <a:prstGeom prst="rect">
            <a:avLst/>
          </a:prstGeom>
          <a:noFill/>
          <a:ln/>
        </p:spPr>
        <p:txBody>
          <a:bodyPr wrap="square" lIns="0" tIns="0" rIns="0" bIns="0" rtlCol="0" anchor="t"/>
          <a:lstStyle/>
          <a:p>
            <a:pPr marL="0" indent="0">
              <a:buNone/>
            </a:pPr>
            <a:r>
              <a:rPr lang="en-US" sz="1800" b="1" dirty="0">
                <a:solidFill>
                  <a:schemeClr val="tx1"/>
                </a:solidFill>
              </a:rPr>
              <a:t>Collaboration list</a:t>
            </a:r>
            <a:endParaRPr lang="en-US" sz="1800" dirty="0"/>
          </a:p>
        </p:txBody>
      </p:sp>
      <p:sp>
        <p:nvSpPr>
          <p:cNvPr id="10" name="Dataset body Collaboration list"/>
          <p:cNvSpPr txBox="1"/>
          <p:nvPr/>
        </p:nvSpPr>
        <p:spPr>
          <a:xfrm>
            <a:off x="6629400" y="3611880"/>
            <a:ext cx="4800600" cy="914400"/>
          </a:xfrm>
          <a:prstGeom prst="rect">
            <a:avLst/>
          </a:prstGeom>
          <a:noFill/>
          <a:ln/>
        </p:spPr>
        <p:txBody>
          <a:bodyPr wrap="square" lIns="0" tIns="0" rIns="0" bIns="0" rtlCol="0" anchor="t"/>
          <a:lstStyle/>
          <a:p>
            <a:pPr marL="0" indent="0">
              <a:buNone/>
            </a:pPr>
            <a:r>
              <a:rPr lang="en-US" sz="1600" dirty="0">
                <a:solidFill>
                  <a:schemeClr val="tx2"/>
                </a:solidFill>
              </a:rPr>
              <a:t>27 listed pairs, 26 unique edges. Bad Bunny and J Balvin were listed twice; the simple graph keeps one edge.</a:t>
            </a:r>
            <a:endParaRPr lang="en-US" sz="1600" dirty="0"/>
          </a:p>
        </p:txBody>
      </p:sp>
      <p:sp>
        <p:nvSpPr>
          <p:cNvPr id="11" name="Dataset card Source and scope"/>
          <p:cNvSpPr/>
          <p:nvPr/>
        </p:nvSpPr>
        <p:spPr>
          <a:xfrm>
            <a:off x="6400800" y="4754880"/>
            <a:ext cx="5239512" cy="1463040"/>
          </a:xfrm>
          <a:prstGeom prst="roundRect">
            <a:avLst>
              <a:gd name="adj" fmla="val 5000"/>
            </a:avLst>
          </a:prstGeom>
          <a:solidFill>
            <a:schemeClr val="bg2"/>
          </a:solidFill>
          <a:ln/>
        </p:spPr>
        <p:txBody>
          <a:bodyPr/>
          <a:lstStyle/>
          <a:p>
            <a:endParaRPr lang="en-US"/>
          </a:p>
        </p:txBody>
      </p:sp>
      <p:sp>
        <p:nvSpPr>
          <p:cNvPr id="12" name="Dataset heading Source and scope"/>
          <p:cNvSpPr txBox="1"/>
          <p:nvPr/>
        </p:nvSpPr>
        <p:spPr>
          <a:xfrm>
            <a:off x="6629400" y="4892040"/>
            <a:ext cx="4800600" cy="320040"/>
          </a:xfrm>
          <a:prstGeom prst="rect">
            <a:avLst/>
          </a:prstGeom>
          <a:noFill/>
          <a:ln/>
        </p:spPr>
        <p:txBody>
          <a:bodyPr wrap="square" lIns="0" tIns="0" rIns="0" bIns="0" rtlCol="0" anchor="t"/>
          <a:lstStyle/>
          <a:p>
            <a:pPr marL="0" indent="0">
              <a:buNone/>
            </a:pPr>
            <a:r>
              <a:rPr lang="en-US" sz="1800" b="1" dirty="0">
                <a:solidFill>
                  <a:schemeClr val="tx1"/>
                </a:solidFill>
              </a:rPr>
              <a:t>Source and scope</a:t>
            </a:r>
            <a:endParaRPr lang="en-US" sz="1800" dirty="0"/>
          </a:p>
        </p:txBody>
      </p:sp>
      <p:sp>
        <p:nvSpPr>
          <p:cNvPr id="13" name="Dataset body Source and scope"/>
          <p:cNvSpPr txBox="1"/>
          <p:nvPr/>
        </p:nvSpPr>
        <p:spPr>
          <a:xfrm>
            <a:off x="6629400" y="5257800"/>
            <a:ext cx="4800600" cy="914400"/>
          </a:xfrm>
          <a:prstGeom prst="rect">
            <a:avLst/>
          </a:prstGeom>
          <a:noFill/>
          <a:ln/>
        </p:spPr>
        <p:txBody>
          <a:bodyPr wrap="square" lIns="0" tIns="0" rIns="0" bIns="0" rtlCol="0" anchor="t"/>
          <a:lstStyle/>
          <a:p>
            <a:pPr marL="0" indent="0">
              <a:buNone/>
            </a:pPr>
            <a:r>
              <a:rPr lang="en-US" sz="1600" dirty="0">
                <a:solidFill>
                  <a:schemeClr val="tx2"/>
                </a:solidFill>
              </a:rPr>
              <a:t>Both tables are hard-coded in the Python script. Spotify API, play counts, dates or track-level credits were used.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Tools and libraries used</a:t>
            </a:r>
            <a:endParaRPr lang="en-US" sz="3400" dirty="0"/>
          </a:p>
        </p:txBody>
      </p:sp>
      <p:sp>
        <p:nvSpPr>
          <p:cNvPr id="3" name="Tool card Python 3"/>
          <p:cNvSpPr/>
          <p:nvPr/>
        </p:nvSpPr>
        <p:spPr>
          <a:xfrm>
            <a:off x="548640" y="1463040"/>
            <a:ext cx="3514039" cy="2331720"/>
          </a:xfrm>
          <a:prstGeom prst="roundRect">
            <a:avLst>
              <a:gd name="adj" fmla="val 3137"/>
            </a:avLst>
          </a:prstGeom>
          <a:solidFill>
            <a:schemeClr val="bg2"/>
          </a:solidFill>
          <a:ln/>
        </p:spPr>
        <p:txBody>
          <a:bodyPr/>
          <a:lstStyle/>
          <a:p>
            <a:endParaRPr lang="en-US"/>
          </a:p>
        </p:txBody>
      </p:sp>
      <p:sp>
        <p:nvSpPr>
          <p:cNvPr id="4" name="Icon Python 3 circle"/>
          <p:cNvSpPr/>
          <p:nvPr/>
        </p:nvSpPr>
        <p:spPr>
          <a:xfrm>
            <a:off x="777240" y="1691640"/>
            <a:ext cx="548640" cy="548640"/>
          </a:xfrm>
          <a:prstGeom prst="ellipse">
            <a:avLst/>
          </a:prstGeom>
          <a:solidFill>
            <a:schemeClr val="accent2"/>
          </a:solidFill>
          <a:ln/>
        </p:spPr>
        <p:txBody>
          <a:bodyPr/>
          <a:lstStyle/>
          <a:p>
            <a:endParaRPr lang="en-US"/>
          </a:p>
        </p:txBody>
      </p:sp>
      <p:pic>
        <p:nvPicPr>
          <p:cNvPr id="5" name="Image 0" descr="Icon Python 3"/>
          <p:cNvPicPr>
            <a:picLocks noChangeAspect="1"/>
          </p:cNvPicPr>
          <p:nvPr/>
        </p:nvPicPr>
        <p:blipFill>
          <a:blip r:embed="rId3"/>
          <a:stretch>
            <a:fillRect/>
          </a:stretch>
        </p:blipFill>
        <p:spPr>
          <a:xfrm>
            <a:off x="925373" y="1839773"/>
            <a:ext cx="252374" cy="252374"/>
          </a:xfrm>
          <a:prstGeom prst="rect">
            <a:avLst/>
          </a:prstGeom>
        </p:spPr>
      </p:pic>
      <p:sp>
        <p:nvSpPr>
          <p:cNvPr id="6" name="Tool name Python 3"/>
          <p:cNvSpPr txBox="1"/>
          <p:nvPr/>
        </p:nvSpPr>
        <p:spPr>
          <a:xfrm>
            <a:off x="1463040"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Python 3</a:t>
            </a:r>
            <a:endParaRPr lang="en-US" sz="1800" dirty="0"/>
          </a:p>
        </p:txBody>
      </p:sp>
      <p:sp>
        <p:nvSpPr>
          <p:cNvPr id="7" name="Tool body Python 3"/>
          <p:cNvSpPr txBox="1"/>
          <p:nvPr/>
        </p:nvSpPr>
        <p:spPr>
          <a:xfrm>
            <a:off x="777240"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One script in six labelled parts, from data prep to summary metrics. The os module sets the output folder.</a:t>
            </a:r>
            <a:endParaRPr lang="en-US" sz="1600" dirty="0"/>
          </a:p>
        </p:txBody>
      </p:sp>
      <p:sp>
        <p:nvSpPr>
          <p:cNvPr id="8" name="Tool card NetworkX"/>
          <p:cNvSpPr/>
          <p:nvPr/>
        </p:nvSpPr>
        <p:spPr>
          <a:xfrm>
            <a:off x="4336999" y="1463040"/>
            <a:ext cx="3514039" cy="2331720"/>
          </a:xfrm>
          <a:prstGeom prst="roundRect">
            <a:avLst>
              <a:gd name="adj" fmla="val 3137"/>
            </a:avLst>
          </a:prstGeom>
          <a:solidFill>
            <a:schemeClr val="bg2"/>
          </a:solidFill>
          <a:ln/>
        </p:spPr>
        <p:txBody>
          <a:bodyPr/>
          <a:lstStyle/>
          <a:p>
            <a:endParaRPr lang="en-US"/>
          </a:p>
        </p:txBody>
      </p:sp>
      <p:sp>
        <p:nvSpPr>
          <p:cNvPr id="9" name="Icon NetworkX circle"/>
          <p:cNvSpPr/>
          <p:nvPr/>
        </p:nvSpPr>
        <p:spPr>
          <a:xfrm>
            <a:off x="4565599" y="1691640"/>
            <a:ext cx="548640" cy="548640"/>
          </a:xfrm>
          <a:prstGeom prst="ellipse">
            <a:avLst/>
          </a:prstGeom>
          <a:solidFill>
            <a:schemeClr val="accent2"/>
          </a:solidFill>
          <a:ln/>
        </p:spPr>
        <p:txBody>
          <a:bodyPr/>
          <a:lstStyle/>
          <a:p>
            <a:endParaRPr lang="en-US"/>
          </a:p>
        </p:txBody>
      </p:sp>
      <p:pic>
        <p:nvPicPr>
          <p:cNvPr id="10" name="Image 1" descr="Icon NetworkX"/>
          <p:cNvPicPr>
            <a:picLocks noChangeAspect="1"/>
          </p:cNvPicPr>
          <p:nvPr/>
        </p:nvPicPr>
        <p:blipFill>
          <a:blip r:embed="rId4"/>
          <a:stretch>
            <a:fillRect/>
          </a:stretch>
        </p:blipFill>
        <p:spPr>
          <a:xfrm>
            <a:off x="4713732" y="1839773"/>
            <a:ext cx="252374" cy="252374"/>
          </a:xfrm>
          <a:prstGeom prst="rect">
            <a:avLst/>
          </a:prstGeom>
        </p:spPr>
      </p:pic>
      <p:sp>
        <p:nvSpPr>
          <p:cNvPr id="11" name="Tool name NetworkX"/>
          <p:cNvSpPr txBox="1"/>
          <p:nvPr/>
        </p:nvSpPr>
        <p:spPr>
          <a:xfrm>
            <a:off x="5251399"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NetworkX</a:t>
            </a:r>
            <a:endParaRPr lang="en-US" sz="1800" dirty="0"/>
          </a:p>
        </p:txBody>
      </p:sp>
      <p:sp>
        <p:nvSpPr>
          <p:cNvPr id="12" name="Tool body NetworkX"/>
          <p:cNvSpPr txBox="1"/>
          <p:nvPr/>
        </p:nvSpPr>
        <p:spPr>
          <a:xfrm>
            <a:off x="4565599"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Graph, degree, isolates, complement, density, connected components, spring_layout and greedy_modularity_communities.</a:t>
            </a:r>
            <a:endParaRPr lang="en-US" sz="1600" dirty="0"/>
          </a:p>
        </p:txBody>
      </p:sp>
      <p:sp>
        <p:nvSpPr>
          <p:cNvPr id="13" name="Tool card Matplotlib"/>
          <p:cNvSpPr/>
          <p:nvPr/>
        </p:nvSpPr>
        <p:spPr>
          <a:xfrm>
            <a:off x="8125358" y="1463040"/>
            <a:ext cx="3514039" cy="2331720"/>
          </a:xfrm>
          <a:prstGeom prst="roundRect">
            <a:avLst>
              <a:gd name="adj" fmla="val 3137"/>
            </a:avLst>
          </a:prstGeom>
          <a:solidFill>
            <a:schemeClr val="bg2"/>
          </a:solidFill>
          <a:ln/>
        </p:spPr>
        <p:txBody>
          <a:bodyPr/>
          <a:lstStyle/>
          <a:p>
            <a:endParaRPr lang="en-US"/>
          </a:p>
        </p:txBody>
      </p:sp>
      <p:sp>
        <p:nvSpPr>
          <p:cNvPr id="14" name="Icon Matplotlib circle"/>
          <p:cNvSpPr/>
          <p:nvPr/>
        </p:nvSpPr>
        <p:spPr>
          <a:xfrm>
            <a:off x="8353958" y="1691640"/>
            <a:ext cx="548640" cy="548640"/>
          </a:xfrm>
          <a:prstGeom prst="ellipse">
            <a:avLst/>
          </a:prstGeom>
          <a:solidFill>
            <a:schemeClr val="accent2"/>
          </a:solidFill>
          <a:ln/>
        </p:spPr>
        <p:txBody>
          <a:bodyPr/>
          <a:lstStyle/>
          <a:p>
            <a:endParaRPr lang="en-US"/>
          </a:p>
        </p:txBody>
      </p:sp>
      <p:pic>
        <p:nvPicPr>
          <p:cNvPr id="15" name="Image 2" descr="Icon Matplotlib"/>
          <p:cNvPicPr>
            <a:picLocks noChangeAspect="1"/>
          </p:cNvPicPr>
          <p:nvPr/>
        </p:nvPicPr>
        <p:blipFill>
          <a:blip r:embed="rId5"/>
          <a:stretch>
            <a:fillRect/>
          </a:stretch>
        </p:blipFill>
        <p:spPr>
          <a:xfrm>
            <a:off x="8502091" y="1839773"/>
            <a:ext cx="252374" cy="252374"/>
          </a:xfrm>
          <a:prstGeom prst="rect">
            <a:avLst/>
          </a:prstGeom>
        </p:spPr>
      </p:pic>
      <p:sp>
        <p:nvSpPr>
          <p:cNvPr id="16" name="Tool name Matplotlib"/>
          <p:cNvSpPr txBox="1"/>
          <p:nvPr/>
        </p:nvSpPr>
        <p:spPr>
          <a:xfrm>
            <a:off x="9039758"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Matplotlib</a:t>
            </a:r>
            <a:endParaRPr lang="en-US" sz="1800" dirty="0"/>
          </a:p>
        </p:txBody>
      </p:sp>
      <p:sp>
        <p:nvSpPr>
          <p:cNvPr id="17" name="Tool body Matplotlib"/>
          <p:cNvSpPr txBox="1"/>
          <p:nvPr/>
        </p:nvSpPr>
        <p:spPr>
          <a:xfrm>
            <a:off x="8353958"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Network and cluster figures, the degree bar chart and the genre legend (patches), </a:t>
            </a:r>
            <a:endParaRPr lang="en-US" sz="1600" dirty="0"/>
          </a:p>
        </p:txBody>
      </p:sp>
      <p:sp>
        <p:nvSpPr>
          <p:cNvPr id="18" name="Tool card Pandas and NumPy"/>
          <p:cNvSpPr/>
          <p:nvPr/>
        </p:nvSpPr>
        <p:spPr>
          <a:xfrm>
            <a:off x="548640" y="3977640"/>
            <a:ext cx="3514039" cy="2331720"/>
          </a:xfrm>
          <a:prstGeom prst="roundRect">
            <a:avLst>
              <a:gd name="adj" fmla="val 3137"/>
            </a:avLst>
          </a:prstGeom>
          <a:solidFill>
            <a:schemeClr val="bg2"/>
          </a:solidFill>
          <a:ln/>
        </p:spPr>
        <p:txBody>
          <a:bodyPr/>
          <a:lstStyle/>
          <a:p>
            <a:endParaRPr lang="en-US"/>
          </a:p>
        </p:txBody>
      </p:sp>
      <p:sp>
        <p:nvSpPr>
          <p:cNvPr id="19" name="Icon Pandas and NumPy circle"/>
          <p:cNvSpPr/>
          <p:nvPr/>
        </p:nvSpPr>
        <p:spPr>
          <a:xfrm>
            <a:off x="777240" y="4206240"/>
            <a:ext cx="548640" cy="548640"/>
          </a:xfrm>
          <a:prstGeom prst="ellipse">
            <a:avLst/>
          </a:prstGeom>
          <a:solidFill>
            <a:schemeClr val="accent2"/>
          </a:solidFill>
          <a:ln/>
        </p:spPr>
        <p:txBody>
          <a:bodyPr/>
          <a:lstStyle/>
          <a:p>
            <a:endParaRPr lang="en-US"/>
          </a:p>
        </p:txBody>
      </p:sp>
      <p:pic>
        <p:nvPicPr>
          <p:cNvPr id="20" name="Image 3" descr="Icon Pandas and NumPy"/>
          <p:cNvPicPr>
            <a:picLocks noChangeAspect="1"/>
          </p:cNvPicPr>
          <p:nvPr/>
        </p:nvPicPr>
        <p:blipFill>
          <a:blip r:embed="rId6"/>
          <a:stretch>
            <a:fillRect/>
          </a:stretch>
        </p:blipFill>
        <p:spPr>
          <a:xfrm>
            <a:off x="925373" y="4354373"/>
            <a:ext cx="252374" cy="252374"/>
          </a:xfrm>
          <a:prstGeom prst="rect">
            <a:avLst/>
          </a:prstGeom>
        </p:spPr>
      </p:pic>
      <p:sp>
        <p:nvSpPr>
          <p:cNvPr id="21" name="Tool name Pandas and NumPy"/>
          <p:cNvSpPr txBox="1"/>
          <p:nvPr/>
        </p:nvSpPr>
        <p:spPr>
          <a:xfrm>
            <a:off x="1463040"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Pandas and NumPy</a:t>
            </a:r>
            <a:endParaRPr lang="en-US" sz="1800" dirty="0"/>
          </a:p>
        </p:txBody>
      </p:sp>
      <p:sp>
        <p:nvSpPr>
          <p:cNvPr id="22" name="Tool body Pandas and NumPy"/>
          <p:cNvSpPr txBox="1"/>
          <p:nvPr/>
        </p:nvSpPr>
        <p:spPr>
          <a:xfrm>
            <a:off x="777240"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A sorted DataFrame for the degree table and summary metrics, exported to CSV. NumPy gives the mean degree.</a:t>
            </a:r>
            <a:endParaRPr lang="en-US" sz="1600" dirty="0"/>
          </a:p>
        </p:txBody>
      </p:sp>
      <p:sp>
        <p:nvSpPr>
          <p:cNvPr id="23" name="Tool card D3.js v7"/>
          <p:cNvSpPr/>
          <p:nvPr/>
        </p:nvSpPr>
        <p:spPr>
          <a:xfrm>
            <a:off x="4336999" y="3977640"/>
            <a:ext cx="3514039" cy="2331720"/>
          </a:xfrm>
          <a:prstGeom prst="roundRect">
            <a:avLst>
              <a:gd name="adj" fmla="val 3137"/>
            </a:avLst>
          </a:prstGeom>
          <a:solidFill>
            <a:schemeClr val="bg2"/>
          </a:solidFill>
          <a:ln/>
        </p:spPr>
        <p:txBody>
          <a:bodyPr/>
          <a:lstStyle/>
          <a:p>
            <a:endParaRPr lang="en-US"/>
          </a:p>
        </p:txBody>
      </p:sp>
      <p:sp>
        <p:nvSpPr>
          <p:cNvPr id="24" name="Icon D3.js v7 circle"/>
          <p:cNvSpPr/>
          <p:nvPr/>
        </p:nvSpPr>
        <p:spPr>
          <a:xfrm>
            <a:off x="4565599" y="4206240"/>
            <a:ext cx="548640" cy="548640"/>
          </a:xfrm>
          <a:prstGeom prst="ellipse">
            <a:avLst/>
          </a:prstGeom>
          <a:solidFill>
            <a:schemeClr val="accent2"/>
          </a:solidFill>
          <a:ln/>
        </p:spPr>
        <p:txBody>
          <a:bodyPr/>
          <a:lstStyle/>
          <a:p>
            <a:endParaRPr lang="en-US"/>
          </a:p>
        </p:txBody>
      </p:sp>
      <p:pic>
        <p:nvPicPr>
          <p:cNvPr id="25" name="Image 4" descr="Icon D3.js v7"/>
          <p:cNvPicPr>
            <a:picLocks noChangeAspect="1"/>
          </p:cNvPicPr>
          <p:nvPr/>
        </p:nvPicPr>
        <p:blipFill>
          <a:blip r:embed="rId7"/>
          <a:stretch>
            <a:fillRect/>
          </a:stretch>
        </p:blipFill>
        <p:spPr>
          <a:xfrm>
            <a:off x="4713732" y="4354373"/>
            <a:ext cx="252374" cy="252374"/>
          </a:xfrm>
          <a:prstGeom prst="rect">
            <a:avLst/>
          </a:prstGeom>
        </p:spPr>
      </p:pic>
      <p:sp>
        <p:nvSpPr>
          <p:cNvPr id="26" name="Tool name D3.js v7"/>
          <p:cNvSpPr txBox="1"/>
          <p:nvPr/>
        </p:nvSpPr>
        <p:spPr>
          <a:xfrm>
            <a:off x="5251399"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D3.js v7</a:t>
            </a:r>
            <a:endParaRPr lang="en-US" sz="1800" dirty="0"/>
          </a:p>
        </p:txBody>
      </p:sp>
      <p:sp>
        <p:nvSpPr>
          <p:cNvPr id="27" name="Tool body D3.js v7"/>
          <p:cNvSpPr txBox="1"/>
          <p:nvPr/>
        </p:nvSpPr>
        <p:spPr>
          <a:xfrm>
            <a:off x="4565599"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Interactive page: force-directed graph, drag and zoom, tooltips, ego-network click, genre filter and a linked bar chart.</a:t>
            </a:r>
            <a:endParaRPr lang="en-US" sz="1600" dirty="0"/>
          </a:p>
        </p:txBody>
      </p:sp>
      <p:sp>
        <p:nvSpPr>
          <p:cNvPr id="28" name="Tool card Outputs"/>
          <p:cNvSpPr/>
          <p:nvPr/>
        </p:nvSpPr>
        <p:spPr>
          <a:xfrm>
            <a:off x="8125358" y="3977640"/>
            <a:ext cx="3514039" cy="2331720"/>
          </a:xfrm>
          <a:prstGeom prst="roundRect">
            <a:avLst>
              <a:gd name="adj" fmla="val 3137"/>
            </a:avLst>
          </a:prstGeom>
          <a:solidFill>
            <a:schemeClr val="bg2"/>
          </a:solidFill>
          <a:ln/>
        </p:spPr>
        <p:txBody>
          <a:bodyPr/>
          <a:lstStyle/>
          <a:p>
            <a:endParaRPr lang="en-US"/>
          </a:p>
        </p:txBody>
      </p:sp>
      <p:sp>
        <p:nvSpPr>
          <p:cNvPr id="29" name="Icon Outputs circle"/>
          <p:cNvSpPr/>
          <p:nvPr/>
        </p:nvSpPr>
        <p:spPr>
          <a:xfrm>
            <a:off x="8353958" y="4206240"/>
            <a:ext cx="548640" cy="548640"/>
          </a:xfrm>
          <a:prstGeom prst="ellipse">
            <a:avLst/>
          </a:prstGeom>
          <a:solidFill>
            <a:schemeClr val="accent2"/>
          </a:solidFill>
          <a:ln/>
        </p:spPr>
        <p:txBody>
          <a:bodyPr/>
          <a:lstStyle/>
          <a:p>
            <a:endParaRPr lang="en-US"/>
          </a:p>
        </p:txBody>
      </p:sp>
      <p:pic>
        <p:nvPicPr>
          <p:cNvPr id="30" name="Image 5" descr="Icon Outputs"/>
          <p:cNvPicPr>
            <a:picLocks noChangeAspect="1"/>
          </p:cNvPicPr>
          <p:nvPr/>
        </p:nvPicPr>
        <p:blipFill>
          <a:blip r:embed="rId8"/>
          <a:stretch>
            <a:fillRect/>
          </a:stretch>
        </p:blipFill>
        <p:spPr>
          <a:xfrm>
            <a:off x="8502091" y="4354373"/>
            <a:ext cx="252374" cy="252374"/>
          </a:xfrm>
          <a:prstGeom prst="rect">
            <a:avLst/>
          </a:prstGeom>
        </p:spPr>
      </p:pic>
      <p:sp>
        <p:nvSpPr>
          <p:cNvPr id="31" name="Tool name Outputs"/>
          <p:cNvSpPr txBox="1"/>
          <p:nvPr/>
        </p:nvSpPr>
        <p:spPr>
          <a:xfrm>
            <a:off x="9039758"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Outputs</a:t>
            </a:r>
            <a:endParaRPr lang="en-US" sz="1800" dirty="0"/>
          </a:p>
        </p:txBody>
      </p:sp>
      <p:sp>
        <p:nvSpPr>
          <p:cNvPr id="32" name="Tool body Outputs"/>
          <p:cNvSpPr txBox="1"/>
          <p:nvPr/>
        </p:nvSpPr>
        <p:spPr>
          <a:xfrm>
            <a:off x="8353958"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degree_table.csv, summary_metrics.csv, collaboration_network.png, degree_distribution.png, genre_clusters.png.</a:t>
            </a:r>
            <a:endParaRPr lang="en-US" sz="1600" dirty="0"/>
          </a:p>
        </p:txBody>
      </p:sp>
      <p:sp>
        <p:nvSpPr>
          <p:cNvPr id="33"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Methodology: a six-part pipeline</a:t>
            </a:r>
            <a:endParaRPr lang="en-US" sz="3400" dirty="0"/>
          </a:p>
        </p:txBody>
      </p:sp>
      <p:sp>
        <p:nvSpPr>
          <p:cNvPr id="3" name="Step card 1"/>
          <p:cNvSpPr/>
          <p:nvPr/>
        </p:nvSpPr>
        <p:spPr>
          <a:xfrm>
            <a:off x="548640" y="1463040"/>
            <a:ext cx="3514039" cy="2331720"/>
          </a:xfrm>
          <a:prstGeom prst="roundRect">
            <a:avLst>
              <a:gd name="adj" fmla="val 3137"/>
            </a:avLst>
          </a:prstGeom>
          <a:solidFill>
            <a:schemeClr val="bg2"/>
          </a:solidFill>
          <a:ln/>
        </p:spPr>
        <p:txBody>
          <a:bodyPr/>
          <a:lstStyle/>
          <a:p>
            <a:endParaRPr lang="en-US"/>
          </a:p>
        </p:txBody>
      </p:sp>
      <p:sp>
        <p:nvSpPr>
          <p:cNvPr id="4" name="Step number circle 1"/>
          <p:cNvSpPr/>
          <p:nvPr/>
        </p:nvSpPr>
        <p:spPr>
          <a:xfrm>
            <a:off x="777240" y="1691640"/>
            <a:ext cx="548640" cy="548640"/>
          </a:xfrm>
          <a:prstGeom prst="ellipse">
            <a:avLst/>
          </a:prstGeom>
          <a:solidFill>
            <a:schemeClr val="accent1"/>
          </a:solidFill>
          <a:ln/>
        </p:spPr>
        <p:txBody>
          <a:bodyPr/>
          <a:lstStyle/>
          <a:p>
            <a:endParaRPr lang="en-US"/>
          </a:p>
        </p:txBody>
      </p:sp>
      <p:sp>
        <p:nvSpPr>
          <p:cNvPr id="5" name="Step number 1"/>
          <p:cNvSpPr txBox="1"/>
          <p:nvPr/>
        </p:nvSpPr>
        <p:spPr>
          <a:xfrm>
            <a:off x="777240"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6" name="Step name 1"/>
          <p:cNvSpPr txBox="1"/>
          <p:nvPr/>
        </p:nvSpPr>
        <p:spPr>
          <a:xfrm>
            <a:off x="1463040"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Data preparation</a:t>
            </a:r>
            <a:endParaRPr lang="en-US" sz="1800" dirty="0"/>
          </a:p>
        </p:txBody>
      </p:sp>
      <p:sp>
        <p:nvSpPr>
          <p:cNvPr id="7" name="Step body 1"/>
          <p:cNvSpPr txBox="1"/>
          <p:nvPr/>
        </p:nvSpPr>
        <p:spPr>
          <a:xfrm>
            <a:off x="774039"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artist_genre (30 artists) and collaborations (27 pairs) are loaded into an undirected nx.Graph.</a:t>
            </a:r>
            <a:endParaRPr lang="en-US" sz="1600" dirty="0"/>
          </a:p>
        </p:txBody>
      </p:sp>
      <p:sp>
        <p:nvSpPr>
          <p:cNvPr id="8" name="Step card 2"/>
          <p:cNvSpPr/>
          <p:nvPr/>
        </p:nvSpPr>
        <p:spPr>
          <a:xfrm>
            <a:off x="4336999" y="1463040"/>
            <a:ext cx="3514039" cy="2331720"/>
          </a:xfrm>
          <a:prstGeom prst="roundRect">
            <a:avLst>
              <a:gd name="adj" fmla="val 3137"/>
            </a:avLst>
          </a:prstGeom>
          <a:solidFill>
            <a:schemeClr val="bg2"/>
          </a:solidFill>
          <a:ln/>
        </p:spPr>
        <p:txBody>
          <a:bodyPr/>
          <a:lstStyle/>
          <a:p>
            <a:endParaRPr lang="en-US"/>
          </a:p>
        </p:txBody>
      </p:sp>
      <p:sp>
        <p:nvSpPr>
          <p:cNvPr id="9" name="Step number circle 2"/>
          <p:cNvSpPr/>
          <p:nvPr/>
        </p:nvSpPr>
        <p:spPr>
          <a:xfrm>
            <a:off x="4565599" y="1691640"/>
            <a:ext cx="548640" cy="548640"/>
          </a:xfrm>
          <a:prstGeom prst="ellipse">
            <a:avLst/>
          </a:prstGeom>
          <a:solidFill>
            <a:schemeClr val="accent1"/>
          </a:solidFill>
          <a:ln/>
        </p:spPr>
        <p:txBody>
          <a:bodyPr/>
          <a:lstStyle/>
          <a:p>
            <a:endParaRPr lang="en-US"/>
          </a:p>
        </p:txBody>
      </p:sp>
      <p:sp>
        <p:nvSpPr>
          <p:cNvPr id="10" name="Step number 2"/>
          <p:cNvSpPr txBox="1"/>
          <p:nvPr/>
        </p:nvSpPr>
        <p:spPr>
          <a:xfrm>
            <a:off x="4565599"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Step name 2"/>
          <p:cNvSpPr txBox="1"/>
          <p:nvPr/>
        </p:nvSpPr>
        <p:spPr>
          <a:xfrm>
            <a:off x="5251399"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Graph fundamentals</a:t>
            </a:r>
            <a:endParaRPr lang="en-US" sz="1800" dirty="0"/>
          </a:p>
        </p:txBody>
      </p:sp>
      <p:sp>
        <p:nvSpPr>
          <p:cNvPr id="12" name="Step body 2"/>
          <p:cNvSpPr txBox="1"/>
          <p:nvPr/>
        </p:nvSpPr>
        <p:spPr>
          <a:xfrm>
            <a:off x="4565599"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Degree table, isolated and pendent vertices, average degree and the complement graph.</a:t>
            </a:r>
            <a:endParaRPr lang="en-US" sz="1600" dirty="0"/>
          </a:p>
        </p:txBody>
      </p:sp>
      <p:sp>
        <p:nvSpPr>
          <p:cNvPr id="13" name="Step card 3"/>
          <p:cNvSpPr/>
          <p:nvPr/>
        </p:nvSpPr>
        <p:spPr>
          <a:xfrm>
            <a:off x="8125358" y="1463040"/>
            <a:ext cx="3514039" cy="2331720"/>
          </a:xfrm>
          <a:prstGeom prst="roundRect">
            <a:avLst>
              <a:gd name="adj" fmla="val 3137"/>
            </a:avLst>
          </a:prstGeom>
          <a:solidFill>
            <a:schemeClr val="bg2"/>
          </a:solidFill>
          <a:ln/>
        </p:spPr>
        <p:txBody>
          <a:bodyPr/>
          <a:lstStyle/>
          <a:p>
            <a:endParaRPr lang="en-US"/>
          </a:p>
        </p:txBody>
      </p:sp>
      <p:sp>
        <p:nvSpPr>
          <p:cNvPr id="14" name="Step number circle 3"/>
          <p:cNvSpPr/>
          <p:nvPr/>
        </p:nvSpPr>
        <p:spPr>
          <a:xfrm>
            <a:off x="8353958" y="1691640"/>
            <a:ext cx="548640" cy="548640"/>
          </a:xfrm>
          <a:prstGeom prst="ellipse">
            <a:avLst/>
          </a:prstGeom>
          <a:solidFill>
            <a:schemeClr val="accent1"/>
          </a:solidFill>
          <a:ln/>
        </p:spPr>
        <p:txBody>
          <a:bodyPr/>
          <a:lstStyle/>
          <a:p>
            <a:endParaRPr lang="en-US"/>
          </a:p>
        </p:txBody>
      </p:sp>
      <p:sp>
        <p:nvSpPr>
          <p:cNvPr id="15" name="Step number 3"/>
          <p:cNvSpPr txBox="1"/>
          <p:nvPr/>
        </p:nvSpPr>
        <p:spPr>
          <a:xfrm>
            <a:off x="8353958"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6" name="Step name 3"/>
          <p:cNvSpPr txBox="1"/>
          <p:nvPr/>
        </p:nvSpPr>
        <p:spPr>
          <a:xfrm>
            <a:off x="9039758" y="16916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Visual mapping</a:t>
            </a:r>
            <a:endParaRPr lang="en-US" sz="1800" dirty="0"/>
          </a:p>
        </p:txBody>
      </p:sp>
      <p:sp>
        <p:nvSpPr>
          <p:cNvPr id="17" name="Step body 3"/>
          <p:cNvSpPr txBox="1"/>
          <p:nvPr/>
        </p:nvSpPr>
        <p:spPr>
          <a:xfrm>
            <a:off x="8353958" y="2423160"/>
            <a:ext cx="3063240" cy="1280160"/>
          </a:xfrm>
          <a:prstGeom prst="rect">
            <a:avLst/>
          </a:prstGeom>
          <a:noFill/>
          <a:ln/>
        </p:spPr>
        <p:txBody>
          <a:bodyPr wrap="square" lIns="0" tIns="0" rIns="0" bIns="0" rtlCol="0" anchor="t"/>
          <a:lstStyle/>
          <a:p>
            <a:pPr marL="0" indent="0">
              <a:buNone/>
            </a:pPr>
            <a:r>
              <a:rPr lang="en-US" sz="1600" dirty="0">
                <a:solidFill>
                  <a:schemeClr val="tx2"/>
                </a:solidFill>
              </a:rPr>
              <a:t>Genre sets node colour, degree sets node size, and a spring layout sets proximity.</a:t>
            </a:r>
            <a:endParaRPr lang="en-US" sz="1600" dirty="0"/>
          </a:p>
        </p:txBody>
      </p:sp>
      <p:sp>
        <p:nvSpPr>
          <p:cNvPr id="18" name="Step card 4"/>
          <p:cNvSpPr/>
          <p:nvPr/>
        </p:nvSpPr>
        <p:spPr>
          <a:xfrm>
            <a:off x="548640" y="3977640"/>
            <a:ext cx="3514039" cy="2331720"/>
          </a:xfrm>
          <a:prstGeom prst="roundRect">
            <a:avLst>
              <a:gd name="adj" fmla="val 3137"/>
            </a:avLst>
          </a:prstGeom>
          <a:solidFill>
            <a:schemeClr val="bg2"/>
          </a:solidFill>
          <a:ln/>
        </p:spPr>
        <p:txBody>
          <a:bodyPr/>
          <a:lstStyle/>
          <a:p>
            <a:endParaRPr lang="en-US"/>
          </a:p>
        </p:txBody>
      </p:sp>
      <p:sp>
        <p:nvSpPr>
          <p:cNvPr id="19" name="Step number circle 4"/>
          <p:cNvSpPr/>
          <p:nvPr/>
        </p:nvSpPr>
        <p:spPr>
          <a:xfrm>
            <a:off x="777240" y="4206240"/>
            <a:ext cx="548640" cy="548640"/>
          </a:xfrm>
          <a:prstGeom prst="ellipse">
            <a:avLst/>
          </a:prstGeom>
          <a:solidFill>
            <a:schemeClr val="accent1"/>
          </a:solidFill>
          <a:ln/>
        </p:spPr>
        <p:txBody>
          <a:bodyPr/>
          <a:lstStyle/>
          <a:p>
            <a:endParaRPr lang="en-US"/>
          </a:p>
        </p:txBody>
      </p:sp>
      <p:sp>
        <p:nvSpPr>
          <p:cNvPr id="20" name="Step number 4"/>
          <p:cNvSpPr txBox="1"/>
          <p:nvPr/>
        </p:nvSpPr>
        <p:spPr>
          <a:xfrm>
            <a:off x="777240" y="42062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1" name="Step name 4"/>
          <p:cNvSpPr txBox="1"/>
          <p:nvPr/>
        </p:nvSpPr>
        <p:spPr>
          <a:xfrm>
            <a:off x="1463040"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Network visualization</a:t>
            </a:r>
            <a:endParaRPr lang="en-US" sz="1800" dirty="0"/>
          </a:p>
        </p:txBody>
      </p:sp>
      <p:sp>
        <p:nvSpPr>
          <p:cNvPr id="22" name="Step body 4"/>
          <p:cNvSpPr txBox="1"/>
          <p:nvPr/>
        </p:nvSpPr>
        <p:spPr>
          <a:xfrm>
            <a:off x="777240"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A node-link diagram plus the top-15 degree bar chart, saved as PNG files.</a:t>
            </a:r>
            <a:endParaRPr lang="en-US" sz="1600" dirty="0"/>
          </a:p>
        </p:txBody>
      </p:sp>
      <p:sp>
        <p:nvSpPr>
          <p:cNvPr id="23" name="Step card 5"/>
          <p:cNvSpPr/>
          <p:nvPr/>
        </p:nvSpPr>
        <p:spPr>
          <a:xfrm>
            <a:off x="4336999" y="3977640"/>
            <a:ext cx="3514039" cy="2331720"/>
          </a:xfrm>
          <a:prstGeom prst="roundRect">
            <a:avLst>
              <a:gd name="adj" fmla="val 3137"/>
            </a:avLst>
          </a:prstGeom>
          <a:solidFill>
            <a:schemeClr val="bg2"/>
          </a:solidFill>
          <a:ln/>
        </p:spPr>
        <p:txBody>
          <a:bodyPr/>
          <a:lstStyle/>
          <a:p>
            <a:endParaRPr lang="en-US"/>
          </a:p>
        </p:txBody>
      </p:sp>
      <p:sp>
        <p:nvSpPr>
          <p:cNvPr id="24" name="Step number circle 5"/>
          <p:cNvSpPr/>
          <p:nvPr/>
        </p:nvSpPr>
        <p:spPr>
          <a:xfrm>
            <a:off x="4565599" y="4206240"/>
            <a:ext cx="548640" cy="548640"/>
          </a:xfrm>
          <a:prstGeom prst="ellipse">
            <a:avLst/>
          </a:prstGeom>
          <a:solidFill>
            <a:schemeClr val="accent1"/>
          </a:solidFill>
          <a:ln/>
        </p:spPr>
        <p:txBody>
          <a:bodyPr/>
          <a:lstStyle/>
          <a:p>
            <a:endParaRPr lang="en-US"/>
          </a:p>
        </p:txBody>
      </p:sp>
      <p:sp>
        <p:nvSpPr>
          <p:cNvPr id="25" name="Step number 5"/>
          <p:cNvSpPr txBox="1"/>
          <p:nvPr/>
        </p:nvSpPr>
        <p:spPr>
          <a:xfrm>
            <a:off x="4565599" y="42062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6" name="Step name 5"/>
          <p:cNvSpPr txBox="1"/>
          <p:nvPr/>
        </p:nvSpPr>
        <p:spPr>
          <a:xfrm>
            <a:off x="5251399"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Cluster detection</a:t>
            </a:r>
            <a:endParaRPr lang="en-US" sz="1800" dirty="0"/>
          </a:p>
        </p:txBody>
      </p:sp>
      <p:sp>
        <p:nvSpPr>
          <p:cNvPr id="27" name="Step body 5"/>
          <p:cNvSpPr txBox="1"/>
          <p:nvPr/>
        </p:nvSpPr>
        <p:spPr>
          <a:xfrm>
            <a:off x="4565599"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Greedy modularity communities from structure alone, compared with stated genre.</a:t>
            </a:r>
            <a:endParaRPr lang="en-US" sz="1600" dirty="0"/>
          </a:p>
        </p:txBody>
      </p:sp>
      <p:sp>
        <p:nvSpPr>
          <p:cNvPr id="28" name="Step card 6"/>
          <p:cNvSpPr/>
          <p:nvPr/>
        </p:nvSpPr>
        <p:spPr>
          <a:xfrm>
            <a:off x="8125358" y="3977640"/>
            <a:ext cx="3514039" cy="2331720"/>
          </a:xfrm>
          <a:prstGeom prst="roundRect">
            <a:avLst>
              <a:gd name="adj" fmla="val 3137"/>
            </a:avLst>
          </a:prstGeom>
          <a:solidFill>
            <a:schemeClr val="bg2"/>
          </a:solidFill>
          <a:ln/>
        </p:spPr>
        <p:txBody>
          <a:bodyPr/>
          <a:lstStyle/>
          <a:p>
            <a:endParaRPr lang="en-US"/>
          </a:p>
        </p:txBody>
      </p:sp>
      <p:sp>
        <p:nvSpPr>
          <p:cNvPr id="29" name="Step number circle 6"/>
          <p:cNvSpPr/>
          <p:nvPr/>
        </p:nvSpPr>
        <p:spPr>
          <a:xfrm>
            <a:off x="8353958" y="4206240"/>
            <a:ext cx="548640" cy="548640"/>
          </a:xfrm>
          <a:prstGeom prst="ellipse">
            <a:avLst/>
          </a:prstGeom>
          <a:solidFill>
            <a:schemeClr val="accent1"/>
          </a:solidFill>
          <a:ln/>
        </p:spPr>
        <p:txBody>
          <a:bodyPr/>
          <a:lstStyle/>
          <a:p>
            <a:endParaRPr lang="en-US"/>
          </a:p>
        </p:txBody>
      </p:sp>
      <p:sp>
        <p:nvSpPr>
          <p:cNvPr id="30" name="Step number 6"/>
          <p:cNvSpPr txBox="1"/>
          <p:nvPr/>
        </p:nvSpPr>
        <p:spPr>
          <a:xfrm>
            <a:off x="8353958" y="42062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31" name="Step name 6"/>
          <p:cNvSpPr txBox="1"/>
          <p:nvPr/>
        </p:nvSpPr>
        <p:spPr>
          <a:xfrm>
            <a:off x="9039758" y="4206240"/>
            <a:ext cx="2468880" cy="548640"/>
          </a:xfrm>
          <a:prstGeom prst="rect">
            <a:avLst/>
          </a:prstGeom>
          <a:noFill/>
          <a:ln/>
        </p:spPr>
        <p:txBody>
          <a:bodyPr wrap="square" lIns="0" tIns="0" rIns="0" bIns="0" rtlCol="0" anchor="ctr"/>
          <a:lstStyle/>
          <a:p>
            <a:pPr marL="0" indent="0">
              <a:buNone/>
            </a:pPr>
            <a:r>
              <a:rPr lang="en-US" sz="1800" b="1" dirty="0">
                <a:solidFill>
                  <a:schemeClr val="tx1"/>
                </a:solidFill>
              </a:rPr>
              <a:t>Summary metrics</a:t>
            </a:r>
            <a:endParaRPr lang="en-US" sz="1800" dirty="0"/>
          </a:p>
        </p:txBody>
      </p:sp>
      <p:sp>
        <p:nvSpPr>
          <p:cNvPr id="32" name="Step body 6"/>
          <p:cNvSpPr txBox="1"/>
          <p:nvPr/>
        </p:nvSpPr>
        <p:spPr>
          <a:xfrm>
            <a:off x="8353958" y="4937760"/>
            <a:ext cx="3063240" cy="1280160"/>
          </a:xfrm>
          <a:prstGeom prst="rect">
            <a:avLst/>
          </a:prstGeom>
          <a:noFill/>
          <a:ln/>
        </p:spPr>
        <p:txBody>
          <a:bodyPr wrap="square" lIns="0" tIns="0" rIns="0" bIns="0" rtlCol="0" anchor="t"/>
          <a:lstStyle/>
          <a:p>
            <a:pPr marL="0" indent="0">
              <a:buNone/>
            </a:pPr>
            <a:r>
              <a:rPr lang="en-US" sz="1600" dirty="0">
                <a:solidFill>
                  <a:schemeClr val="tx2"/>
                </a:solidFill>
              </a:rPr>
              <a:t>Nine headline metrics (order, size, density, components, communities) exported to CSV.</a:t>
            </a:r>
            <a:endParaRPr lang="en-US" sz="1600" dirty="0"/>
          </a:p>
        </p:txBody>
      </p:sp>
      <p:sp>
        <p:nvSpPr>
          <p:cNvPr id="33"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Graph fundamentals</a:t>
            </a:r>
            <a:endParaRPr lang="en-US" sz="3400" dirty="0"/>
          </a:p>
        </p:txBody>
      </p:sp>
      <p:pic>
        <p:nvPicPr>
          <p:cNvPr id="3" name="Image 0" descr="Network of 30 artists coloured by genre, node size by number of collaborations"/>
          <p:cNvPicPr>
            <a:picLocks noChangeAspect="1"/>
          </p:cNvPicPr>
          <p:nvPr/>
        </p:nvPicPr>
        <p:blipFill>
          <a:blip r:embed="rId3"/>
          <a:stretch>
            <a:fillRect/>
          </a:stretch>
        </p:blipFill>
        <p:spPr>
          <a:xfrm>
            <a:off x="548640" y="1463040"/>
            <a:ext cx="6126480" cy="4592564"/>
          </a:xfrm>
          <a:prstGeom prst="rect">
            <a:avLst/>
          </a:prstGeom>
        </p:spPr>
      </p:pic>
      <p:sp>
        <p:nvSpPr>
          <p:cNvPr id="4" name="Icon Order and size circle"/>
          <p:cNvSpPr/>
          <p:nvPr/>
        </p:nvSpPr>
        <p:spPr>
          <a:xfrm>
            <a:off x="6858000" y="1554480"/>
            <a:ext cx="594360" cy="594360"/>
          </a:xfrm>
          <a:prstGeom prst="ellipse">
            <a:avLst/>
          </a:prstGeom>
          <a:solidFill>
            <a:schemeClr val="accent2"/>
          </a:solidFill>
          <a:ln/>
        </p:spPr>
        <p:txBody>
          <a:bodyPr/>
          <a:lstStyle/>
          <a:p>
            <a:endParaRPr lang="en-US"/>
          </a:p>
        </p:txBody>
      </p:sp>
      <p:pic>
        <p:nvPicPr>
          <p:cNvPr id="5" name="Image 1" descr="Icon Order and size"/>
          <p:cNvPicPr>
            <a:picLocks noChangeAspect="1"/>
          </p:cNvPicPr>
          <p:nvPr/>
        </p:nvPicPr>
        <p:blipFill>
          <a:blip r:embed="rId4"/>
          <a:stretch>
            <a:fillRect/>
          </a:stretch>
        </p:blipFill>
        <p:spPr>
          <a:xfrm>
            <a:off x="7018477" y="1714957"/>
            <a:ext cx="273406" cy="273406"/>
          </a:xfrm>
          <a:prstGeom prst="rect">
            <a:avLst/>
          </a:prstGeom>
        </p:spPr>
      </p:pic>
      <p:sp>
        <p:nvSpPr>
          <p:cNvPr id="6" name="Fact heading Order and size"/>
          <p:cNvSpPr txBox="1"/>
          <p:nvPr/>
        </p:nvSpPr>
        <p:spPr>
          <a:xfrm>
            <a:off x="7680960" y="1463040"/>
            <a:ext cx="3959352" cy="365760"/>
          </a:xfrm>
          <a:prstGeom prst="rect">
            <a:avLst/>
          </a:prstGeom>
          <a:noFill/>
          <a:ln/>
        </p:spPr>
        <p:txBody>
          <a:bodyPr wrap="square" lIns="0" tIns="0" rIns="0" bIns="0" rtlCol="0" anchor="t"/>
          <a:lstStyle/>
          <a:p>
            <a:pPr marL="0" indent="0">
              <a:buNone/>
            </a:pPr>
            <a:r>
              <a:rPr lang="en-US" sz="1800" b="1" dirty="0">
                <a:solidFill>
                  <a:schemeClr val="tx1"/>
                </a:solidFill>
              </a:rPr>
              <a:t>Order and size</a:t>
            </a:r>
            <a:endParaRPr lang="en-US" sz="1800" dirty="0"/>
          </a:p>
        </p:txBody>
      </p:sp>
      <p:sp>
        <p:nvSpPr>
          <p:cNvPr id="7" name="Fact body Order and size"/>
          <p:cNvSpPr txBox="1"/>
          <p:nvPr/>
        </p:nvSpPr>
        <p:spPr>
          <a:xfrm>
            <a:off x="7680960" y="1847088"/>
            <a:ext cx="3959352" cy="777240"/>
          </a:xfrm>
          <a:prstGeom prst="rect">
            <a:avLst/>
          </a:prstGeom>
          <a:noFill/>
          <a:ln/>
        </p:spPr>
        <p:txBody>
          <a:bodyPr wrap="square" lIns="0" tIns="0" rIns="0" bIns="0" rtlCol="0" anchor="t"/>
          <a:lstStyle/>
          <a:p>
            <a:pPr marL="0" indent="0">
              <a:buNone/>
            </a:pPr>
            <a:r>
              <a:rPr lang="en-US" sz="1400" dirty="0">
                <a:solidFill>
                  <a:schemeClr val="tx2"/>
                </a:solidFill>
              </a:rPr>
              <a:t>|V| = 30 artists and |E| = 26 collaborations: a finite, undirected, simple graph.</a:t>
            </a:r>
            <a:endParaRPr lang="en-US" sz="1400" dirty="0"/>
          </a:p>
        </p:txBody>
      </p:sp>
      <p:sp>
        <p:nvSpPr>
          <p:cNvPr id="8" name="Icon Isolated vertex circle"/>
          <p:cNvSpPr/>
          <p:nvPr/>
        </p:nvSpPr>
        <p:spPr>
          <a:xfrm>
            <a:off x="6858000" y="2788920"/>
            <a:ext cx="594360" cy="594360"/>
          </a:xfrm>
          <a:prstGeom prst="ellipse">
            <a:avLst/>
          </a:prstGeom>
          <a:solidFill>
            <a:schemeClr val="accent2"/>
          </a:solidFill>
          <a:ln/>
        </p:spPr>
        <p:txBody>
          <a:bodyPr/>
          <a:lstStyle/>
          <a:p>
            <a:endParaRPr lang="en-US"/>
          </a:p>
        </p:txBody>
      </p:sp>
      <p:pic>
        <p:nvPicPr>
          <p:cNvPr id="9" name="Image 2" descr="Icon Isolated vertex"/>
          <p:cNvPicPr>
            <a:picLocks noChangeAspect="1"/>
          </p:cNvPicPr>
          <p:nvPr/>
        </p:nvPicPr>
        <p:blipFill>
          <a:blip r:embed="rId5"/>
          <a:stretch>
            <a:fillRect/>
          </a:stretch>
        </p:blipFill>
        <p:spPr>
          <a:xfrm>
            <a:off x="7018477" y="2949397"/>
            <a:ext cx="273406" cy="273406"/>
          </a:xfrm>
          <a:prstGeom prst="rect">
            <a:avLst/>
          </a:prstGeom>
        </p:spPr>
      </p:pic>
      <p:sp>
        <p:nvSpPr>
          <p:cNvPr id="10" name="Fact heading Isolated vertex"/>
          <p:cNvSpPr txBox="1"/>
          <p:nvPr/>
        </p:nvSpPr>
        <p:spPr>
          <a:xfrm>
            <a:off x="7680960" y="2697480"/>
            <a:ext cx="3959352" cy="365760"/>
          </a:xfrm>
          <a:prstGeom prst="rect">
            <a:avLst/>
          </a:prstGeom>
          <a:noFill/>
          <a:ln/>
        </p:spPr>
        <p:txBody>
          <a:bodyPr wrap="square" lIns="0" tIns="0" rIns="0" bIns="0" rtlCol="0" anchor="t"/>
          <a:lstStyle/>
          <a:p>
            <a:pPr marL="0" indent="0">
              <a:buNone/>
            </a:pPr>
            <a:r>
              <a:rPr lang="en-US" sz="1800" b="1" dirty="0">
                <a:solidFill>
                  <a:schemeClr val="tx1"/>
                </a:solidFill>
              </a:rPr>
              <a:t>Isolated vertex</a:t>
            </a:r>
            <a:endParaRPr lang="en-US" sz="1800" dirty="0"/>
          </a:p>
        </p:txBody>
      </p:sp>
      <p:sp>
        <p:nvSpPr>
          <p:cNvPr id="11" name="Fact body Isolated vertex"/>
          <p:cNvSpPr txBox="1"/>
          <p:nvPr/>
        </p:nvSpPr>
        <p:spPr>
          <a:xfrm>
            <a:off x="7680960" y="3081528"/>
            <a:ext cx="3959352" cy="777240"/>
          </a:xfrm>
          <a:prstGeom prst="rect">
            <a:avLst/>
          </a:prstGeom>
          <a:noFill/>
          <a:ln/>
        </p:spPr>
        <p:txBody>
          <a:bodyPr wrap="square" lIns="0" tIns="0" rIns="0" bIns="0" rtlCol="0" anchor="t"/>
          <a:lstStyle/>
          <a:p>
            <a:pPr marL="0" indent="0">
              <a:buNone/>
            </a:pPr>
            <a:r>
              <a:rPr lang="en-US" sz="1400" dirty="0" err="1">
                <a:solidFill>
                  <a:schemeClr val="tx2"/>
                </a:solidFill>
              </a:rPr>
              <a:t>TwentyOne</a:t>
            </a:r>
            <a:r>
              <a:rPr lang="en-US" sz="1400" dirty="0">
                <a:solidFill>
                  <a:schemeClr val="tx2"/>
                </a:solidFill>
              </a:rPr>
              <a:t> Pilots has degree 0, with no collaboration edge at all.</a:t>
            </a:r>
            <a:endParaRPr lang="en-US" sz="1400" dirty="0"/>
          </a:p>
        </p:txBody>
      </p:sp>
      <p:sp>
        <p:nvSpPr>
          <p:cNvPr id="12" name="Icon Pendent vertices circle"/>
          <p:cNvSpPr/>
          <p:nvPr/>
        </p:nvSpPr>
        <p:spPr>
          <a:xfrm>
            <a:off x="6858000" y="4023360"/>
            <a:ext cx="594360" cy="594360"/>
          </a:xfrm>
          <a:prstGeom prst="ellipse">
            <a:avLst/>
          </a:prstGeom>
          <a:solidFill>
            <a:schemeClr val="accent2"/>
          </a:solidFill>
          <a:ln/>
        </p:spPr>
        <p:txBody>
          <a:bodyPr/>
          <a:lstStyle/>
          <a:p>
            <a:endParaRPr lang="en-US"/>
          </a:p>
        </p:txBody>
      </p:sp>
      <p:pic>
        <p:nvPicPr>
          <p:cNvPr id="13" name="Image 3" descr="Icon Pendent vertices"/>
          <p:cNvPicPr>
            <a:picLocks noChangeAspect="1"/>
          </p:cNvPicPr>
          <p:nvPr/>
        </p:nvPicPr>
        <p:blipFill>
          <a:blip r:embed="rId6"/>
          <a:stretch>
            <a:fillRect/>
          </a:stretch>
        </p:blipFill>
        <p:spPr>
          <a:xfrm>
            <a:off x="7018477" y="4183837"/>
            <a:ext cx="273406" cy="273406"/>
          </a:xfrm>
          <a:prstGeom prst="rect">
            <a:avLst/>
          </a:prstGeom>
        </p:spPr>
      </p:pic>
      <p:sp>
        <p:nvSpPr>
          <p:cNvPr id="14" name="Fact heading Pendent vertices"/>
          <p:cNvSpPr txBox="1"/>
          <p:nvPr/>
        </p:nvSpPr>
        <p:spPr>
          <a:xfrm>
            <a:off x="7680960" y="3931920"/>
            <a:ext cx="3959352" cy="365760"/>
          </a:xfrm>
          <a:prstGeom prst="rect">
            <a:avLst/>
          </a:prstGeom>
          <a:noFill/>
          <a:ln/>
        </p:spPr>
        <p:txBody>
          <a:bodyPr wrap="square" lIns="0" tIns="0" rIns="0" bIns="0" rtlCol="0" anchor="t"/>
          <a:lstStyle/>
          <a:p>
            <a:pPr marL="0" indent="0">
              <a:buNone/>
            </a:pPr>
            <a:r>
              <a:rPr lang="en-US" sz="1800" b="1" dirty="0">
                <a:solidFill>
                  <a:schemeClr val="tx1"/>
                </a:solidFill>
              </a:rPr>
              <a:t>Pendent vertices</a:t>
            </a:r>
            <a:endParaRPr lang="en-US" sz="1800" dirty="0"/>
          </a:p>
        </p:txBody>
      </p:sp>
      <p:sp>
        <p:nvSpPr>
          <p:cNvPr id="15" name="Fact body Pendent vertices"/>
          <p:cNvSpPr txBox="1"/>
          <p:nvPr/>
        </p:nvSpPr>
        <p:spPr>
          <a:xfrm>
            <a:off x="7680960" y="4315968"/>
            <a:ext cx="3959352" cy="777240"/>
          </a:xfrm>
          <a:prstGeom prst="rect">
            <a:avLst/>
          </a:prstGeom>
          <a:noFill/>
          <a:ln/>
        </p:spPr>
        <p:txBody>
          <a:bodyPr wrap="square" lIns="0" tIns="0" rIns="0" bIns="0" rtlCol="0" anchor="t"/>
          <a:lstStyle/>
          <a:p>
            <a:pPr marL="0" indent="0">
              <a:buNone/>
            </a:pPr>
            <a:r>
              <a:rPr lang="en-US" sz="1400" dirty="0">
                <a:solidFill>
                  <a:schemeClr val="tx2"/>
                </a:solidFill>
              </a:rPr>
              <a:t>14 artists sit at degree 1, such as Taylor Swift, SZA and Karol G.</a:t>
            </a:r>
            <a:endParaRPr lang="en-US" sz="1400" dirty="0"/>
          </a:p>
        </p:txBody>
      </p:sp>
      <p:sp>
        <p:nvSpPr>
          <p:cNvPr id="16" name="Icon Complement graph circle"/>
          <p:cNvSpPr/>
          <p:nvPr/>
        </p:nvSpPr>
        <p:spPr>
          <a:xfrm>
            <a:off x="6858000" y="5257800"/>
            <a:ext cx="594360" cy="594360"/>
          </a:xfrm>
          <a:prstGeom prst="ellipse">
            <a:avLst/>
          </a:prstGeom>
          <a:solidFill>
            <a:schemeClr val="accent2"/>
          </a:solidFill>
          <a:ln/>
        </p:spPr>
        <p:txBody>
          <a:bodyPr/>
          <a:lstStyle/>
          <a:p>
            <a:endParaRPr lang="en-US"/>
          </a:p>
        </p:txBody>
      </p:sp>
      <p:pic>
        <p:nvPicPr>
          <p:cNvPr id="17" name="Image 4" descr="Icon Complement graph"/>
          <p:cNvPicPr>
            <a:picLocks noChangeAspect="1"/>
          </p:cNvPicPr>
          <p:nvPr/>
        </p:nvPicPr>
        <p:blipFill>
          <a:blip r:embed="rId7"/>
          <a:stretch>
            <a:fillRect/>
          </a:stretch>
        </p:blipFill>
        <p:spPr>
          <a:xfrm>
            <a:off x="7018477" y="5418277"/>
            <a:ext cx="273406" cy="273406"/>
          </a:xfrm>
          <a:prstGeom prst="rect">
            <a:avLst/>
          </a:prstGeom>
        </p:spPr>
      </p:pic>
      <p:sp>
        <p:nvSpPr>
          <p:cNvPr id="18" name="Fact heading Complement graph"/>
          <p:cNvSpPr txBox="1"/>
          <p:nvPr/>
        </p:nvSpPr>
        <p:spPr>
          <a:xfrm>
            <a:off x="7680960" y="5166360"/>
            <a:ext cx="3959352" cy="365760"/>
          </a:xfrm>
          <a:prstGeom prst="rect">
            <a:avLst/>
          </a:prstGeom>
          <a:noFill/>
          <a:ln/>
        </p:spPr>
        <p:txBody>
          <a:bodyPr wrap="square" lIns="0" tIns="0" rIns="0" bIns="0" rtlCol="0" anchor="t"/>
          <a:lstStyle/>
          <a:p>
            <a:pPr marL="0" indent="0">
              <a:buNone/>
            </a:pPr>
            <a:r>
              <a:rPr lang="en-US" sz="1800" b="1" dirty="0">
                <a:solidFill>
                  <a:schemeClr val="tx1"/>
                </a:solidFill>
              </a:rPr>
              <a:t>Complement graph</a:t>
            </a:r>
            <a:endParaRPr lang="en-US" sz="1800" dirty="0"/>
          </a:p>
        </p:txBody>
      </p:sp>
      <p:sp>
        <p:nvSpPr>
          <p:cNvPr id="19" name="Fact body Complement graph"/>
          <p:cNvSpPr txBox="1"/>
          <p:nvPr/>
        </p:nvSpPr>
        <p:spPr>
          <a:xfrm>
            <a:off x="7680960" y="5550408"/>
            <a:ext cx="3959352" cy="777240"/>
          </a:xfrm>
          <a:prstGeom prst="rect">
            <a:avLst/>
          </a:prstGeom>
          <a:noFill/>
          <a:ln/>
        </p:spPr>
        <p:txBody>
          <a:bodyPr wrap="square" lIns="0" tIns="0" rIns="0" bIns="0" rtlCol="0" anchor="t"/>
          <a:lstStyle/>
          <a:p>
            <a:pPr marL="0" indent="0">
              <a:buNone/>
            </a:pPr>
            <a:r>
              <a:rPr lang="en-US" sz="1400" dirty="0">
                <a:solidFill>
                  <a:schemeClr val="tx2"/>
                </a:solidFill>
              </a:rPr>
              <a:t>409 non-collaborating pairs (435 possible minus 26): the unexplored half.</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Visual mapping and Gestalt principles</a:t>
            </a:r>
            <a:endParaRPr lang="en-US" sz="3400" dirty="0"/>
          </a:p>
        </p:txBody>
      </p:sp>
      <p:graphicFrame>
        <p:nvGraphicFramePr>
          <p:cNvPr id="8" name="Mapping table"/>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2834640"/>
        </p:xfrm>
        <a:graphic>
          <a:graphicData uri="http://schemas.openxmlformats.org/drawingml/2006/table">
            <a:tbl>
              <a:tblPr/>
              <a:tblGrid>
                <a:gridCol w="26517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Data</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Visual channel</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Principle</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2"/>
                          </a:solidFill>
                        </a:rPr>
                        <a:t>Genre label</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Node colour</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Similarity</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2"/>
                          </a:solidFill>
                        </a:rPr>
                        <a:t>Collaboration count (degree)</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Node size</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Size signals importance</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2"/>
                          </a:solidFill>
                        </a:rPr>
                        <a:t>Who worked with whom</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Edges and spring layout</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Proximity</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dirty="0">
                          <a:solidFill>
                            <a:schemeClr val="tx2"/>
                          </a:solidFill>
                        </a:rPr>
                        <a:t>Structural cluster</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Colour in a second view</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tc>
                  <a:txBody>
                    <a:bodyPr/>
                    <a:lstStyle/>
                    <a:p>
                      <a:pPr marL="0" indent="0">
                        <a:buNone/>
                      </a:pPr>
                      <a:r>
                        <a:rPr lang="en-US" sz="1400" dirty="0">
                          <a:solidFill>
                            <a:schemeClr val="tx2"/>
                          </a:solidFill>
                        </a:rPr>
                        <a:t>Similarity (structure, not genre)</a:t>
                      </a:r>
                      <a:endParaRPr lang="en-US" sz="1400" dirty="0"/>
                    </a:p>
                  </a:txBody>
                  <a:tcPr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Layout parameters card"/>
          <p:cNvSpPr/>
          <p:nvPr/>
        </p:nvSpPr>
        <p:spPr>
          <a:xfrm>
            <a:off x="548640" y="4526280"/>
            <a:ext cx="7223760" cy="1691640"/>
          </a:xfrm>
          <a:prstGeom prst="roundRect">
            <a:avLst>
              <a:gd name="adj" fmla="val 4324"/>
            </a:avLst>
          </a:prstGeom>
          <a:solidFill>
            <a:schemeClr val="bg2"/>
          </a:solidFill>
          <a:ln/>
        </p:spPr>
        <p:txBody>
          <a:bodyPr/>
          <a:lstStyle/>
          <a:p>
            <a:endParaRPr lang="en-US"/>
          </a:p>
        </p:txBody>
      </p:sp>
      <p:sp>
        <p:nvSpPr>
          <p:cNvPr id="5" name="Parameters heading"/>
          <p:cNvSpPr txBox="1"/>
          <p:nvPr/>
        </p:nvSpPr>
        <p:spPr>
          <a:xfrm>
            <a:off x="777240" y="4663440"/>
            <a:ext cx="6766560" cy="320040"/>
          </a:xfrm>
          <a:prstGeom prst="rect">
            <a:avLst/>
          </a:prstGeom>
          <a:noFill/>
          <a:ln/>
        </p:spPr>
        <p:txBody>
          <a:bodyPr wrap="square" lIns="0" tIns="0" rIns="0" bIns="0" rtlCol="0" anchor="t"/>
          <a:lstStyle/>
          <a:p>
            <a:pPr marL="0" indent="0">
              <a:buNone/>
            </a:pPr>
            <a:r>
              <a:rPr lang="en-US" sz="1600" b="1" dirty="0">
                <a:solidFill>
                  <a:schemeClr val="tx1"/>
                </a:solidFill>
              </a:rPr>
              <a:t>Layout and sizing in the code</a:t>
            </a:r>
            <a:endParaRPr lang="en-US" sz="1600" dirty="0"/>
          </a:p>
        </p:txBody>
      </p:sp>
      <p:sp>
        <p:nvSpPr>
          <p:cNvPr id="6" name="Parameters body"/>
          <p:cNvSpPr txBox="1"/>
          <p:nvPr/>
        </p:nvSpPr>
        <p:spPr>
          <a:xfrm>
            <a:off x="777240" y="5029200"/>
            <a:ext cx="6766560" cy="1097280"/>
          </a:xfrm>
          <a:prstGeom prst="rect">
            <a:avLst/>
          </a:prstGeom>
          <a:noFill/>
          <a:ln/>
        </p:spPr>
        <p:txBody>
          <a:bodyPr wrap="square" lIns="0" tIns="0" rIns="0" bIns="0" rtlCol="0" anchor="t"/>
          <a:lstStyle/>
          <a:p>
            <a:pPr marL="0" indent="0">
              <a:buNone/>
            </a:pPr>
            <a:r>
              <a:rPr lang="en-US" sz="1600" b="1" dirty="0">
                <a:solidFill>
                  <a:schemeClr val="tx2"/>
                </a:solidFill>
              </a:rPr>
              <a:t>nx.spring_layout(G, seed=42, k=0.6)</a:t>
            </a:r>
            <a:endParaRPr lang="en-US" sz="1600" dirty="0"/>
          </a:p>
          <a:p>
            <a:pPr marL="0" indent="0">
              <a:buNone/>
            </a:pPr>
            <a:r>
              <a:rPr lang="en-US" sz="1600" b="1" dirty="0">
                <a:solidFill>
                  <a:schemeClr val="tx2"/>
                </a:solidFill>
              </a:rPr>
              <a:t>node size = 300 + 260 x degree</a:t>
            </a:r>
            <a:endParaRPr lang="en-US" sz="1600" dirty="0"/>
          </a:p>
          <a:p>
            <a:pPr marL="0" indent="0">
              <a:buNone/>
            </a:pPr>
            <a:r>
              <a:rPr lang="en-US" sz="1600" dirty="0">
                <a:solidFill>
                  <a:schemeClr val="tx2"/>
                </a:solidFill>
              </a:rPr>
              <a:t>A fixed seed keeps the figures reproducible.</a:t>
            </a:r>
            <a:endParaRPr lang="en-US" sz="1600" dirty="0"/>
          </a:p>
        </p:txBody>
      </p:sp>
      <p:sp>
        <p:nvSpPr>
          <p:cNvPr id="7" name="Palette card"/>
          <p:cNvSpPr/>
          <p:nvPr/>
        </p:nvSpPr>
        <p:spPr>
          <a:xfrm>
            <a:off x="8046720" y="1463040"/>
            <a:ext cx="3593592" cy="4754880"/>
          </a:xfrm>
          <a:prstGeom prst="roundRect">
            <a:avLst>
              <a:gd name="adj" fmla="val 2036"/>
            </a:avLst>
          </a:prstGeom>
          <a:solidFill>
            <a:schemeClr val="bg2"/>
          </a:solidFill>
          <a:ln/>
        </p:spPr>
        <p:txBody>
          <a:bodyPr/>
          <a:lstStyle/>
          <a:p>
            <a:endParaRPr lang="en-US"/>
          </a:p>
        </p:txBody>
      </p:sp>
      <p:sp>
        <p:nvSpPr>
          <p:cNvPr id="3" name="Palette heading"/>
          <p:cNvSpPr txBox="1"/>
          <p:nvPr/>
        </p:nvSpPr>
        <p:spPr>
          <a:xfrm>
            <a:off x="8321040" y="1645920"/>
            <a:ext cx="3108960" cy="365760"/>
          </a:xfrm>
          <a:prstGeom prst="rect">
            <a:avLst/>
          </a:prstGeom>
          <a:noFill/>
          <a:ln/>
        </p:spPr>
        <p:txBody>
          <a:bodyPr wrap="square" lIns="0" tIns="0" rIns="0" bIns="0" rtlCol="0" anchor="t"/>
          <a:lstStyle/>
          <a:p>
            <a:pPr marL="0" indent="0">
              <a:buNone/>
            </a:pPr>
            <a:r>
              <a:rPr lang="en-US" sz="1800" b="1" dirty="0">
                <a:solidFill>
                  <a:schemeClr val="tx1"/>
                </a:solidFill>
              </a:rPr>
              <a:t>Genre palette</a:t>
            </a:r>
            <a:endParaRPr lang="en-US" sz="1800" dirty="0"/>
          </a:p>
        </p:txBody>
      </p:sp>
      <p:sp>
        <p:nvSpPr>
          <p:cNvPr id="9" name="Swatch Hip-Hop"/>
          <p:cNvSpPr/>
          <p:nvPr/>
        </p:nvSpPr>
        <p:spPr>
          <a:xfrm>
            <a:off x="8321040" y="2286000"/>
            <a:ext cx="365760" cy="365760"/>
          </a:xfrm>
          <a:prstGeom prst="ellipse">
            <a:avLst/>
          </a:prstGeom>
          <a:solidFill>
            <a:srgbClr val="457B9D"/>
          </a:solidFill>
          <a:ln/>
        </p:spPr>
        <p:txBody>
          <a:bodyPr/>
          <a:lstStyle/>
          <a:p>
            <a:endParaRPr lang="en-US"/>
          </a:p>
        </p:txBody>
      </p:sp>
      <p:sp>
        <p:nvSpPr>
          <p:cNvPr id="10" name="Swatch label Hip-Hop"/>
          <p:cNvSpPr txBox="1"/>
          <p:nvPr/>
        </p:nvSpPr>
        <p:spPr>
          <a:xfrm>
            <a:off x="8869680" y="2240280"/>
            <a:ext cx="1737360" cy="457200"/>
          </a:xfrm>
          <a:prstGeom prst="rect">
            <a:avLst/>
          </a:prstGeom>
          <a:noFill/>
          <a:ln/>
        </p:spPr>
        <p:txBody>
          <a:bodyPr wrap="square" lIns="0" tIns="0" rIns="0" bIns="0" rtlCol="0" anchor="ctr"/>
          <a:lstStyle/>
          <a:p>
            <a:pPr marL="0" indent="0">
              <a:buNone/>
            </a:pPr>
            <a:r>
              <a:rPr lang="en-US" sz="1600" dirty="0">
                <a:solidFill>
                  <a:schemeClr val="tx1"/>
                </a:solidFill>
              </a:rPr>
              <a:t>Hip-Hop</a:t>
            </a:r>
            <a:endParaRPr lang="en-US" sz="1600" dirty="0"/>
          </a:p>
        </p:txBody>
      </p:sp>
      <p:sp>
        <p:nvSpPr>
          <p:cNvPr id="11" name="Swatch count Hip-Hop"/>
          <p:cNvSpPr txBox="1"/>
          <p:nvPr/>
        </p:nvSpPr>
        <p:spPr>
          <a:xfrm>
            <a:off x="10424160" y="224028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8 artists</a:t>
            </a:r>
            <a:endParaRPr lang="en-US" sz="1400" dirty="0"/>
          </a:p>
        </p:txBody>
      </p:sp>
      <p:sp>
        <p:nvSpPr>
          <p:cNvPr id="12" name="Swatch Pop"/>
          <p:cNvSpPr/>
          <p:nvPr/>
        </p:nvSpPr>
        <p:spPr>
          <a:xfrm>
            <a:off x="8321040" y="2926080"/>
            <a:ext cx="365760" cy="365760"/>
          </a:xfrm>
          <a:prstGeom prst="ellipse">
            <a:avLst/>
          </a:prstGeom>
          <a:solidFill>
            <a:srgbClr val="E63946"/>
          </a:solidFill>
          <a:ln/>
        </p:spPr>
        <p:txBody>
          <a:bodyPr/>
          <a:lstStyle/>
          <a:p>
            <a:endParaRPr lang="en-US"/>
          </a:p>
        </p:txBody>
      </p:sp>
      <p:sp>
        <p:nvSpPr>
          <p:cNvPr id="13" name="Swatch label Pop"/>
          <p:cNvSpPr txBox="1"/>
          <p:nvPr/>
        </p:nvSpPr>
        <p:spPr>
          <a:xfrm>
            <a:off x="8869680" y="2880360"/>
            <a:ext cx="1737360" cy="457200"/>
          </a:xfrm>
          <a:prstGeom prst="rect">
            <a:avLst/>
          </a:prstGeom>
          <a:noFill/>
          <a:ln/>
        </p:spPr>
        <p:txBody>
          <a:bodyPr wrap="square" lIns="0" tIns="0" rIns="0" bIns="0" rtlCol="0" anchor="ctr"/>
          <a:lstStyle/>
          <a:p>
            <a:pPr marL="0" indent="0">
              <a:buNone/>
            </a:pPr>
            <a:r>
              <a:rPr lang="en-US" sz="1600" dirty="0">
                <a:solidFill>
                  <a:schemeClr val="tx1"/>
                </a:solidFill>
              </a:rPr>
              <a:t>Pop</a:t>
            </a:r>
            <a:endParaRPr lang="en-US" sz="1600" dirty="0"/>
          </a:p>
        </p:txBody>
      </p:sp>
      <p:sp>
        <p:nvSpPr>
          <p:cNvPr id="14" name="Swatch count Pop"/>
          <p:cNvSpPr txBox="1"/>
          <p:nvPr/>
        </p:nvSpPr>
        <p:spPr>
          <a:xfrm>
            <a:off x="10424160" y="288036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7 artists</a:t>
            </a:r>
            <a:endParaRPr lang="en-US" sz="1400" dirty="0"/>
          </a:p>
        </p:txBody>
      </p:sp>
      <p:sp>
        <p:nvSpPr>
          <p:cNvPr id="15" name="Swatch R&amp;B"/>
          <p:cNvSpPr/>
          <p:nvPr/>
        </p:nvSpPr>
        <p:spPr>
          <a:xfrm>
            <a:off x="8321040" y="3566160"/>
            <a:ext cx="365760" cy="365760"/>
          </a:xfrm>
          <a:prstGeom prst="ellipse">
            <a:avLst/>
          </a:prstGeom>
          <a:solidFill>
            <a:srgbClr val="F4A261"/>
          </a:solidFill>
          <a:ln/>
        </p:spPr>
        <p:txBody>
          <a:bodyPr/>
          <a:lstStyle/>
          <a:p>
            <a:endParaRPr lang="en-US"/>
          </a:p>
        </p:txBody>
      </p:sp>
      <p:sp>
        <p:nvSpPr>
          <p:cNvPr id="16" name="Swatch label R&amp;amp;B"/>
          <p:cNvSpPr txBox="1"/>
          <p:nvPr/>
        </p:nvSpPr>
        <p:spPr>
          <a:xfrm>
            <a:off x="8869680" y="3520440"/>
            <a:ext cx="1737360" cy="457200"/>
          </a:xfrm>
          <a:prstGeom prst="rect">
            <a:avLst/>
          </a:prstGeom>
          <a:noFill/>
          <a:ln/>
        </p:spPr>
        <p:txBody>
          <a:bodyPr wrap="square" lIns="0" tIns="0" rIns="0" bIns="0" rtlCol="0" anchor="ctr"/>
          <a:lstStyle/>
          <a:p>
            <a:pPr marL="0" indent="0">
              <a:buNone/>
            </a:pPr>
            <a:r>
              <a:rPr lang="en-US" sz="1600" dirty="0">
                <a:solidFill>
                  <a:schemeClr val="tx1"/>
                </a:solidFill>
              </a:rPr>
              <a:t>R&amp;B</a:t>
            </a:r>
            <a:endParaRPr lang="en-US" sz="1600" dirty="0"/>
          </a:p>
        </p:txBody>
      </p:sp>
      <p:sp>
        <p:nvSpPr>
          <p:cNvPr id="17" name="Swatch count R&amp;amp;B"/>
          <p:cNvSpPr txBox="1"/>
          <p:nvPr/>
        </p:nvSpPr>
        <p:spPr>
          <a:xfrm>
            <a:off x="10424160" y="352044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5 artists</a:t>
            </a:r>
            <a:endParaRPr lang="en-US" sz="1400" dirty="0"/>
          </a:p>
        </p:txBody>
      </p:sp>
      <p:sp>
        <p:nvSpPr>
          <p:cNvPr id="18" name="Swatch EDM"/>
          <p:cNvSpPr/>
          <p:nvPr/>
        </p:nvSpPr>
        <p:spPr>
          <a:xfrm>
            <a:off x="8321040" y="4206240"/>
            <a:ext cx="365760" cy="365760"/>
          </a:xfrm>
          <a:prstGeom prst="ellipse">
            <a:avLst/>
          </a:prstGeom>
          <a:solidFill>
            <a:srgbClr val="2A9D8F"/>
          </a:solidFill>
          <a:ln/>
        </p:spPr>
        <p:txBody>
          <a:bodyPr/>
          <a:lstStyle/>
          <a:p>
            <a:endParaRPr lang="en-US"/>
          </a:p>
        </p:txBody>
      </p:sp>
      <p:sp>
        <p:nvSpPr>
          <p:cNvPr id="19" name="Swatch label EDM"/>
          <p:cNvSpPr txBox="1"/>
          <p:nvPr/>
        </p:nvSpPr>
        <p:spPr>
          <a:xfrm>
            <a:off x="8869680" y="4160520"/>
            <a:ext cx="1737360" cy="457200"/>
          </a:xfrm>
          <a:prstGeom prst="rect">
            <a:avLst/>
          </a:prstGeom>
          <a:noFill/>
          <a:ln/>
        </p:spPr>
        <p:txBody>
          <a:bodyPr wrap="square" lIns="0" tIns="0" rIns="0" bIns="0" rtlCol="0" anchor="ctr"/>
          <a:lstStyle/>
          <a:p>
            <a:pPr marL="0" indent="0">
              <a:buNone/>
            </a:pPr>
            <a:r>
              <a:rPr lang="en-US" sz="1600" dirty="0">
                <a:solidFill>
                  <a:schemeClr val="tx1"/>
                </a:solidFill>
              </a:rPr>
              <a:t>EDM</a:t>
            </a:r>
            <a:endParaRPr lang="en-US" sz="1600" dirty="0"/>
          </a:p>
        </p:txBody>
      </p:sp>
      <p:sp>
        <p:nvSpPr>
          <p:cNvPr id="20" name="Swatch count EDM"/>
          <p:cNvSpPr txBox="1"/>
          <p:nvPr/>
        </p:nvSpPr>
        <p:spPr>
          <a:xfrm>
            <a:off x="10424160" y="416052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5 artists</a:t>
            </a:r>
            <a:endParaRPr lang="en-US" sz="1400" dirty="0"/>
          </a:p>
        </p:txBody>
      </p:sp>
      <p:sp>
        <p:nvSpPr>
          <p:cNvPr id="21" name="Swatch Latin"/>
          <p:cNvSpPr/>
          <p:nvPr/>
        </p:nvSpPr>
        <p:spPr>
          <a:xfrm>
            <a:off x="8321040" y="4846320"/>
            <a:ext cx="365760" cy="365760"/>
          </a:xfrm>
          <a:prstGeom prst="ellipse">
            <a:avLst/>
          </a:prstGeom>
          <a:solidFill>
            <a:srgbClr val="FFB703"/>
          </a:solidFill>
          <a:ln/>
        </p:spPr>
        <p:txBody>
          <a:bodyPr/>
          <a:lstStyle/>
          <a:p>
            <a:endParaRPr lang="en-US"/>
          </a:p>
        </p:txBody>
      </p:sp>
      <p:sp>
        <p:nvSpPr>
          <p:cNvPr id="22" name="Swatch label Latin"/>
          <p:cNvSpPr txBox="1"/>
          <p:nvPr/>
        </p:nvSpPr>
        <p:spPr>
          <a:xfrm>
            <a:off x="8869680" y="4800600"/>
            <a:ext cx="1737360" cy="457200"/>
          </a:xfrm>
          <a:prstGeom prst="rect">
            <a:avLst/>
          </a:prstGeom>
          <a:noFill/>
          <a:ln/>
        </p:spPr>
        <p:txBody>
          <a:bodyPr wrap="square" lIns="0" tIns="0" rIns="0" bIns="0" rtlCol="0" anchor="ctr"/>
          <a:lstStyle/>
          <a:p>
            <a:pPr marL="0" indent="0">
              <a:buNone/>
            </a:pPr>
            <a:r>
              <a:rPr lang="en-US" sz="1600" dirty="0">
                <a:solidFill>
                  <a:schemeClr val="tx1"/>
                </a:solidFill>
              </a:rPr>
              <a:t>Latin</a:t>
            </a:r>
            <a:endParaRPr lang="en-US" sz="1600" dirty="0"/>
          </a:p>
        </p:txBody>
      </p:sp>
      <p:sp>
        <p:nvSpPr>
          <p:cNvPr id="23" name="Swatch count Latin"/>
          <p:cNvSpPr txBox="1"/>
          <p:nvPr/>
        </p:nvSpPr>
        <p:spPr>
          <a:xfrm>
            <a:off x="10424160" y="480060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3 artists</a:t>
            </a:r>
            <a:endParaRPr lang="en-US" sz="1400" dirty="0"/>
          </a:p>
        </p:txBody>
      </p:sp>
      <p:sp>
        <p:nvSpPr>
          <p:cNvPr id="24" name="Swatch Rock"/>
          <p:cNvSpPr/>
          <p:nvPr/>
        </p:nvSpPr>
        <p:spPr>
          <a:xfrm>
            <a:off x="8321040" y="5486400"/>
            <a:ext cx="365760" cy="365760"/>
          </a:xfrm>
          <a:prstGeom prst="ellipse">
            <a:avLst/>
          </a:prstGeom>
          <a:solidFill>
            <a:srgbClr val="6A4C93"/>
          </a:solidFill>
          <a:ln/>
        </p:spPr>
        <p:txBody>
          <a:bodyPr/>
          <a:lstStyle/>
          <a:p>
            <a:endParaRPr lang="en-US"/>
          </a:p>
        </p:txBody>
      </p:sp>
      <p:sp>
        <p:nvSpPr>
          <p:cNvPr id="25" name="Swatch label Rock"/>
          <p:cNvSpPr txBox="1"/>
          <p:nvPr/>
        </p:nvSpPr>
        <p:spPr>
          <a:xfrm>
            <a:off x="8869680" y="5440680"/>
            <a:ext cx="1737360" cy="457200"/>
          </a:xfrm>
          <a:prstGeom prst="rect">
            <a:avLst/>
          </a:prstGeom>
          <a:noFill/>
          <a:ln/>
        </p:spPr>
        <p:txBody>
          <a:bodyPr wrap="square" lIns="0" tIns="0" rIns="0" bIns="0" rtlCol="0" anchor="ctr"/>
          <a:lstStyle/>
          <a:p>
            <a:pPr marL="0" indent="0">
              <a:buNone/>
            </a:pPr>
            <a:r>
              <a:rPr lang="en-US" sz="1600" dirty="0">
                <a:solidFill>
                  <a:schemeClr val="tx1"/>
                </a:solidFill>
              </a:rPr>
              <a:t>Rock</a:t>
            </a:r>
            <a:endParaRPr lang="en-US" sz="1600" dirty="0"/>
          </a:p>
        </p:txBody>
      </p:sp>
      <p:sp>
        <p:nvSpPr>
          <p:cNvPr id="26" name="Swatch count Rock"/>
          <p:cNvSpPr txBox="1"/>
          <p:nvPr/>
        </p:nvSpPr>
        <p:spPr>
          <a:xfrm>
            <a:off x="10424160" y="5440680"/>
            <a:ext cx="1051560" cy="457200"/>
          </a:xfrm>
          <a:prstGeom prst="rect">
            <a:avLst/>
          </a:prstGeom>
          <a:noFill/>
          <a:ln/>
        </p:spPr>
        <p:txBody>
          <a:bodyPr wrap="square" lIns="0" tIns="0" rIns="0" bIns="0" rtlCol="0" anchor="ctr"/>
          <a:lstStyle/>
          <a:p>
            <a:pPr marL="0" indent="0" algn="r">
              <a:buNone/>
            </a:pPr>
            <a:r>
              <a:rPr lang="en-US" sz="1400" dirty="0">
                <a:solidFill>
                  <a:schemeClr val="tx2"/>
                </a:solidFill>
              </a:rPr>
              <a:t>2 artists</a:t>
            </a:r>
            <a:endParaRPr lang="en-US" sz="1400" dirty="0"/>
          </a:p>
        </p:txBody>
      </p:sp>
      <p:sp>
        <p:nvSpPr>
          <p:cNvPr id="27"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Results: graph metrics matrix</a:t>
            </a:r>
            <a:endParaRPr lang="en-US" sz="3400" dirty="0"/>
          </a:p>
        </p:txBody>
      </p:sp>
      <p:graphicFrame>
        <p:nvGraphicFramePr>
          <p:cNvPr id="9" name="Metrics table"/>
          <p:cNvGraphicFramePr>
            <a:graphicFrameLocks noGrp="1"/>
          </p:cNvGraphicFramePr>
          <p:nvPr>
            <p:extLst>
              <p:ext uri="{D42A27DB-BD31-4B8C-83A1-F6EECF244321}">
                <p14:modId xmlns:p14="http://schemas.microsoft.com/office/powerpoint/2010/main" val="3617879401"/>
              </p:ext>
            </p:extLst>
          </p:nvPr>
        </p:nvGraphicFramePr>
        <p:xfrm>
          <a:off x="548640" y="1463040"/>
          <a:ext cx="6400800" cy="4754880"/>
        </p:xfrm>
        <a:graphic>
          <a:graphicData uri="http://schemas.openxmlformats.org/drawingml/2006/table">
            <a:tbl>
              <a:tblPr/>
              <a:tblGrid>
                <a:gridCol w="35661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475488">
                <a:tc>
                  <a:txBody>
                    <a:bodyPr/>
                    <a:lstStyle/>
                    <a:p>
                      <a:pPr marL="0" indent="0" algn="l">
                        <a:buNone/>
                      </a:pPr>
                      <a:r>
                        <a:rPr lang="en-US" sz="1400" b="1" dirty="0">
                          <a:solidFill>
                            <a:schemeClr val="bg1"/>
                          </a:solidFill>
                        </a:rPr>
                        <a:t>Metric</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Value</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chemeClr val="tx2"/>
                          </a:solidFill>
                        </a:rPr>
                        <a:t>Vertices (artists)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30</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chemeClr val="tx2"/>
                          </a:solidFill>
                        </a:rPr>
                        <a:t>Edges (collaborations)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26</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chemeClr val="tx2"/>
                          </a:solidFill>
                        </a:rPr>
                        <a:t>Isolated vertices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1 (</a:t>
                      </a:r>
                      <a:r>
                        <a:rPr lang="en-US" sz="1400" b="1" dirty="0" err="1">
                          <a:solidFill>
                            <a:schemeClr val="tx1"/>
                          </a:solidFill>
                        </a:rPr>
                        <a:t>TwentyOne</a:t>
                      </a:r>
                      <a:r>
                        <a:rPr lang="en-US" sz="1400" b="1" dirty="0">
                          <a:solidFill>
                            <a:schemeClr val="tx1"/>
                          </a:solidFill>
                        </a:rPr>
                        <a:t> Pilots)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chemeClr val="tx2"/>
                          </a:solidFill>
                        </a:rPr>
                        <a:t>Pendent vertices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14</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chemeClr val="tx2"/>
                          </a:solidFill>
                        </a:rPr>
                        <a:t>Average degree</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1.73</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chemeClr val="tx2"/>
                          </a:solidFill>
                        </a:rPr>
                        <a:t>Density</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0.06</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chemeClr val="tx2"/>
                          </a:solidFill>
                        </a:rPr>
                        <a:t>Connected components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5</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75488">
                <a:tc>
                  <a:txBody>
                    <a:bodyPr/>
                    <a:lstStyle/>
                    <a:p>
                      <a:pPr marL="0" indent="0">
                        <a:buNone/>
                      </a:pPr>
                      <a:r>
                        <a:rPr lang="en-US" sz="1400" dirty="0">
                          <a:solidFill>
                            <a:schemeClr val="tx2"/>
                          </a:solidFill>
                        </a:rPr>
                        <a:t>Detected communities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tx1"/>
                          </a:solidFill>
                        </a:rPr>
                        <a:t>7</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5488">
                <a:tc>
                  <a:txBody>
                    <a:bodyPr/>
                    <a:lstStyle/>
                    <a:p>
                      <a:pPr marL="0" indent="0">
                        <a:buNone/>
                      </a:pPr>
                      <a:r>
                        <a:rPr lang="en-US" sz="1400" dirty="0">
                          <a:solidFill>
                            <a:schemeClr val="tx2"/>
                          </a:solidFill>
                        </a:rPr>
                        <a:t>Complement graph edges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b="1" dirty="0">
                          <a:solidFill>
                            <a:schemeClr val="tx1"/>
                          </a:solidFill>
                        </a:rPr>
                        <a:t>409</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bl>
          </a:graphicData>
        </a:graphic>
      </p:graphicFrame>
      <p:sp>
        <p:nvSpPr>
          <p:cNvPr id="4" name="Callout card 1"/>
          <p:cNvSpPr/>
          <p:nvPr/>
        </p:nvSpPr>
        <p:spPr>
          <a:xfrm>
            <a:off x="7315200" y="1463040"/>
            <a:ext cx="4325112" cy="1417320"/>
          </a:xfrm>
          <a:prstGeom prst="roundRect">
            <a:avLst>
              <a:gd name="adj" fmla="val 5161"/>
            </a:avLst>
          </a:prstGeom>
          <a:solidFill>
            <a:schemeClr val="bg2"/>
          </a:solidFill>
          <a:ln/>
        </p:spPr>
        <p:txBody>
          <a:bodyPr/>
          <a:lstStyle/>
          <a:p>
            <a:endParaRPr lang="en-US"/>
          </a:p>
        </p:txBody>
      </p:sp>
      <p:sp>
        <p:nvSpPr>
          <p:cNvPr id="5" name="Callout number 1"/>
          <p:cNvSpPr txBox="1"/>
          <p:nvPr/>
        </p:nvSpPr>
        <p:spPr>
          <a:xfrm>
            <a:off x="7543800" y="1554480"/>
            <a:ext cx="1737360" cy="123444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6%</a:t>
            </a:r>
            <a:endParaRPr lang="en-US" sz="4000" dirty="0"/>
          </a:p>
        </p:txBody>
      </p:sp>
      <p:sp>
        <p:nvSpPr>
          <p:cNvPr id="6" name="Callout label 1"/>
          <p:cNvSpPr txBox="1"/>
          <p:nvPr/>
        </p:nvSpPr>
        <p:spPr>
          <a:xfrm>
            <a:off x="9326880" y="1554480"/>
            <a:ext cx="2148840" cy="1234440"/>
          </a:xfrm>
          <a:prstGeom prst="rect">
            <a:avLst/>
          </a:prstGeom>
          <a:noFill/>
          <a:ln/>
        </p:spPr>
        <p:txBody>
          <a:bodyPr wrap="square" lIns="0" tIns="0" rIns="0" bIns="0" rtlCol="0" anchor="ctr"/>
          <a:lstStyle/>
          <a:p>
            <a:pPr marL="0" indent="0">
              <a:buNone/>
            </a:pPr>
            <a:r>
              <a:rPr lang="en-US" sz="1400" dirty="0">
                <a:solidFill>
                  <a:schemeClr val="tx1"/>
                </a:solidFill>
              </a:rPr>
              <a:t>density: 26 of 435 possible pairs have collaborated</a:t>
            </a:r>
            <a:endParaRPr lang="en-US" sz="1400" dirty="0"/>
          </a:p>
        </p:txBody>
      </p:sp>
      <p:sp>
        <p:nvSpPr>
          <p:cNvPr id="7" name="Callout card 2"/>
          <p:cNvSpPr/>
          <p:nvPr/>
        </p:nvSpPr>
        <p:spPr>
          <a:xfrm>
            <a:off x="7315200" y="3063240"/>
            <a:ext cx="4325112" cy="1417320"/>
          </a:xfrm>
          <a:prstGeom prst="roundRect">
            <a:avLst>
              <a:gd name="adj" fmla="val 5161"/>
            </a:avLst>
          </a:prstGeom>
          <a:solidFill>
            <a:schemeClr val="bg2"/>
          </a:solidFill>
          <a:ln/>
        </p:spPr>
        <p:txBody>
          <a:bodyPr/>
          <a:lstStyle/>
          <a:p>
            <a:endParaRPr lang="en-US"/>
          </a:p>
        </p:txBody>
      </p:sp>
      <p:sp>
        <p:nvSpPr>
          <p:cNvPr id="8" name="Callout number 2"/>
          <p:cNvSpPr txBox="1"/>
          <p:nvPr/>
        </p:nvSpPr>
        <p:spPr>
          <a:xfrm>
            <a:off x="7543800" y="3154680"/>
            <a:ext cx="1737360" cy="12344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18 of 30</a:t>
            </a:r>
            <a:endParaRPr lang="en-US" sz="2800" dirty="0"/>
          </a:p>
        </p:txBody>
      </p:sp>
      <p:sp>
        <p:nvSpPr>
          <p:cNvPr id="3" name="Callout label 2"/>
          <p:cNvSpPr txBox="1"/>
          <p:nvPr/>
        </p:nvSpPr>
        <p:spPr>
          <a:xfrm>
            <a:off x="9326880" y="3154680"/>
            <a:ext cx="2148840" cy="1234440"/>
          </a:xfrm>
          <a:prstGeom prst="rect">
            <a:avLst/>
          </a:prstGeom>
          <a:noFill/>
          <a:ln/>
        </p:spPr>
        <p:txBody>
          <a:bodyPr wrap="square" lIns="0" tIns="0" rIns="0" bIns="0" rtlCol="0" anchor="ctr"/>
          <a:lstStyle/>
          <a:p>
            <a:pPr marL="0" indent="0">
              <a:buNone/>
            </a:pPr>
            <a:r>
              <a:rPr lang="en-US" sz="1400" dirty="0">
                <a:solidFill>
                  <a:schemeClr val="tx1"/>
                </a:solidFill>
              </a:rPr>
              <a:t>artists sit in the largest connected component</a:t>
            </a:r>
            <a:endParaRPr lang="en-US" sz="1400" dirty="0"/>
          </a:p>
        </p:txBody>
      </p:sp>
      <p:sp>
        <p:nvSpPr>
          <p:cNvPr id="10" name="Callout card 3"/>
          <p:cNvSpPr/>
          <p:nvPr/>
        </p:nvSpPr>
        <p:spPr>
          <a:xfrm>
            <a:off x="7315200" y="4663440"/>
            <a:ext cx="4325112" cy="1417320"/>
          </a:xfrm>
          <a:prstGeom prst="roundRect">
            <a:avLst>
              <a:gd name="adj" fmla="val 5161"/>
            </a:avLst>
          </a:prstGeom>
          <a:solidFill>
            <a:schemeClr val="bg2"/>
          </a:solidFill>
          <a:ln/>
        </p:spPr>
        <p:txBody>
          <a:bodyPr/>
          <a:lstStyle/>
          <a:p>
            <a:endParaRPr lang="en-US"/>
          </a:p>
        </p:txBody>
      </p:sp>
      <p:sp>
        <p:nvSpPr>
          <p:cNvPr id="11" name="Callout number 3"/>
          <p:cNvSpPr txBox="1"/>
          <p:nvPr/>
        </p:nvSpPr>
        <p:spPr>
          <a:xfrm>
            <a:off x="7543800" y="4754880"/>
            <a:ext cx="1737360" cy="123444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50%</a:t>
            </a:r>
            <a:endParaRPr lang="en-US" sz="4000" dirty="0"/>
          </a:p>
        </p:txBody>
      </p:sp>
      <p:sp>
        <p:nvSpPr>
          <p:cNvPr id="12" name="Callout label 3"/>
          <p:cNvSpPr txBox="1"/>
          <p:nvPr/>
        </p:nvSpPr>
        <p:spPr>
          <a:xfrm>
            <a:off x="9326880" y="4754880"/>
            <a:ext cx="2148840" cy="1234440"/>
          </a:xfrm>
          <a:prstGeom prst="rect">
            <a:avLst/>
          </a:prstGeom>
          <a:noFill/>
          <a:ln/>
        </p:spPr>
        <p:txBody>
          <a:bodyPr wrap="square" lIns="0" tIns="0" rIns="0" bIns="0" rtlCol="0" anchor="ctr"/>
          <a:lstStyle/>
          <a:p>
            <a:pPr marL="0" indent="0">
              <a:buNone/>
            </a:pPr>
            <a:r>
              <a:rPr lang="en-US" sz="1400" dirty="0">
                <a:solidFill>
                  <a:schemeClr val="tx1"/>
                </a:solidFill>
              </a:rPr>
              <a:t>of artists have at most one collaboration (15 of 30)</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Top connected artists by degree</a:t>
            </a:r>
            <a:endParaRPr lang="en-US" sz="3400" dirty="0"/>
          </a:p>
        </p:txBody>
      </p:sp>
      <p:sp>
        <p:nvSpPr>
          <p:cNvPr id="3" name="Legend swatch Hip-Hop"/>
          <p:cNvSpPr/>
          <p:nvPr/>
        </p:nvSpPr>
        <p:spPr>
          <a:xfrm>
            <a:off x="548640" y="1517904"/>
            <a:ext cx="182880" cy="182880"/>
          </a:xfrm>
          <a:prstGeom prst="ellipse">
            <a:avLst/>
          </a:prstGeom>
          <a:solidFill>
            <a:srgbClr val="457B9D"/>
          </a:solidFill>
          <a:ln/>
        </p:spPr>
        <p:txBody>
          <a:bodyPr/>
          <a:lstStyle/>
          <a:p>
            <a:endParaRPr lang="en-US"/>
          </a:p>
        </p:txBody>
      </p:sp>
      <p:sp>
        <p:nvSpPr>
          <p:cNvPr id="4" name="Legend label Hip-Hop"/>
          <p:cNvSpPr txBox="1"/>
          <p:nvPr/>
        </p:nvSpPr>
        <p:spPr>
          <a:xfrm>
            <a:off x="80467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Hip-Hop</a:t>
            </a:r>
            <a:endParaRPr lang="en-US" sz="1200" dirty="0"/>
          </a:p>
        </p:txBody>
      </p:sp>
      <p:sp>
        <p:nvSpPr>
          <p:cNvPr id="5" name="Legend swatch Pop"/>
          <p:cNvSpPr/>
          <p:nvPr/>
        </p:nvSpPr>
        <p:spPr>
          <a:xfrm>
            <a:off x="1737360" y="1517904"/>
            <a:ext cx="182880" cy="182880"/>
          </a:xfrm>
          <a:prstGeom prst="ellipse">
            <a:avLst/>
          </a:prstGeom>
          <a:solidFill>
            <a:srgbClr val="E63946"/>
          </a:solidFill>
          <a:ln/>
        </p:spPr>
        <p:txBody>
          <a:bodyPr/>
          <a:lstStyle/>
          <a:p>
            <a:endParaRPr lang="en-US"/>
          </a:p>
        </p:txBody>
      </p:sp>
      <p:sp>
        <p:nvSpPr>
          <p:cNvPr id="6" name="Legend label Pop"/>
          <p:cNvSpPr txBox="1"/>
          <p:nvPr/>
        </p:nvSpPr>
        <p:spPr>
          <a:xfrm>
            <a:off x="199339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Pop</a:t>
            </a:r>
            <a:endParaRPr lang="en-US" sz="1200" dirty="0"/>
          </a:p>
        </p:txBody>
      </p:sp>
      <p:sp>
        <p:nvSpPr>
          <p:cNvPr id="7" name="Legend swatch R&amp;B"/>
          <p:cNvSpPr/>
          <p:nvPr/>
        </p:nvSpPr>
        <p:spPr>
          <a:xfrm>
            <a:off x="2926080" y="1517904"/>
            <a:ext cx="182880" cy="182880"/>
          </a:xfrm>
          <a:prstGeom prst="ellipse">
            <a:avLst/>
          </a:prstGeom>
          <a:solidFill>
            <a:srgbClr val="F4A261"/>
          </a:solidFill>
          <a:ln/>
        </p:spPr>
        <p:txBody>
          <a:bodyPr/>
          <a:lstStyle/>
          <a:p>
            <a:endParaRPr lang="en-US"/>
          </a:p>
        </p:txBody>
      </p:sp>
      <p:sp>
        <p:nvSpPr>
          <p:cNvPr id="8" name="Legend label R&amp;amp;B"/>
          <p:cNvSpPr txBox="1"/>
          <p:nvPr/>
        </p:nvSpPr>
        <p:spPr>
          <a:xfrm>
            <a:off x="318211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R&amp;B</a:t>
            </a:r>
            <a:endParaRPr lang="en-US" sz="1200" dirty="0"/>
          </a:p>
        </p:txBody>
      </p:sp>
      <p:sp>
        <p:nvSpPr>
          <p:cNvPr id="9" name="Legend swatch EDM"/>
          <p:cNvSpPr/>
          <p:nvPr/>
        </p:nvSpPr>
        <p:spPr>
          <a:xfrm>
            <a:off x="4114800" y="1517904"/>
            <a:ext cx="182880" cy="182880"/>
          </a:xfrm>
          <a:prstGeom prst="ellipse">
            <a:avLst/>
          </a:prstGeom>
          <a:solidFill>
            <a:srgbClr val="2A9D8F"/>
          </a:solidFill>
          <a:ln/>
        </p:spPr>
        <p:txBody>
          <a:bodyPr/>
          <a:lstStyle/>
          <a:p>
            <a:endParaRPr lang="en-US"/>
          </a:p>
        </p:txBody>
      </p:sp>
      <p:sp>
        <p:nvSpPr>
          <p:cNvPr id="10" name="Legend label EDM"/>
          <p:cNvSpPr txBox="1"/>
          <p:nvPr/>
        </p:nvSpPr>
        <p:spPr>
          <a:xfrm>
            <a:off x="437083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EDM</a:t>
            </a:r>
            <a:endParaRPr lang="en-US" sz="1200" dirty="0"/>
          </a:p>
        </p:txBody>
      </p:sp>
      <p:sp>
        <p:nvSpPr>
          <p:cNvPr id="11" name="Legend swatch Latin"/>
          <p:cNvSpPr/>
          <p:nvPr/>
        </p:nvSpPr>
        <p:spPr>
          <a:xfrm>
            <a:off x="5303520" y="1517904"/>
            <a:ext cx="182880" cy="182880"/>
          </a:xfrm>
          <a:prstGeom prst="ellipse">
            <a:avLst/>
          </a:prstGeom>
          <a:solidFill>
            <a:srgbClr val="FFB703"/>
          </a:solidFill>
          <a:ln/>
        </p:spPr>
        <p:txBody>
          <a:bodyPr/>
          <a:lstStyle/>
          <a:p>
            <a:endParaRPr lang="en-US"/>
          </a:p>
        </p:txBody>
      </p:sp>
      <p:sp>
        <p:nvSpPr>
          <p:cNvPr id="12" name="Legend label Latin"/>
          <p:cNvSpPr txBox="1"/>
          <p:nvPr/>
        </p:nvSpPr>
        <p:spPr>
          <a:xfrm>
            <a:off x="555955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Latin</a:t>
            </a:r>
            <a:endParaRPr lang="en-US" sz="1200" dirty="0"/>
          </a:p>
        </p:txBody>
      </p:sp>
      <p:sp>
        <p:nvSpPr>
          <p:cNvPr id="13" name="Legend swatch Rock"/>
          <p:cNvSpPr/>
          <p:nvPr/>
        </p:nvSpPr>
        <p:spPr>
          <a:xfrm>
            <a:off x="6492240" y="1517904"/>
            <a:ext cx="182880" cy="182880"/>
          </a:xfrm>
          <a:prstGeom prst="ellipse">
            <a:avLst/>
          </a:prstGeom>
          <a:solidFill>
            <a:srgbClr val="6A4C93"/>
          </a:solidFill>
          <a:ln/>
        </p:spPr>
        <p:txBody>
          <a:bodyPr/>
          <a:lstStyle/>
          <a:p>
            <a:endParaRPr lang="en-US"/>
          </a:p>
        </p:txBody>
      </p:sp>
      <p:sp>
        <p:nvSpPr>
          <p:cNvPr id="14" name="Legend label Rock"/>
          <p:cNvSpPr txBox="1"/>
          <p:nvPr/>
        </p:nvSpPr>
        <p:spPr>
          <a:xfrm>
            <a:off x="6748272" y="1444752"/>
            <a:ext cx="914400" cy="329184"/>
          </a:xfrm>
          <a:prstGeom prst="rect">
            <a:avLst/>
          </a:prstGeom>
          <a:noFill/>
          <a:ln/>
        </p:spPr>
        <p:txBody>
          <a:bodyPr wrap="square" lIns="0" tIns="0" rIns="0" bIns="0" rtlCol="0" anchor="ctr"/>
          <a:lstStyle/>
          <a:p>
            <a:pPr marL="0" indent="0">
              <a:buNone/>
            </a:pPr>
            <a:r>
              <a:rPr lang="en-US" sz="1200" dirty="0">
                <a:solidFill>
                  <a:schemeClr val="tx1"/>
                </a:solidFill>
              </a:rPr>
              <a:t>Rock</a:t>
            </a:r>
            <a:endParaRPr lang="en-US" sz="1200" dirty="0"/>
          </a:p>
        </p:txBody>
      </p:sp>
      <p:graphicFrame>
        <p:nvGraphicFramePr>
          <p:cNvPr id="15" name="Chart 0"/>
          <p:cNvGraphicFramePr/>
          <p:nvPr/>
        </p:nvGraphicFramePr>
        <p:xfrm>
          <a:off x="548640" y="1828800"/>
          <a:ext cx="73152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16" name="Insight card 1"/>
          <p:cNvSpPr/>
          <p:nvPr/>
        </p:nvSpPr>
        <p:spPr>
          <a:xfrm>
            <a:off x="8183880" y="1463040"/>
            <a:ext cx="3456432" cy="1417320"/>
          </a:xfrm>
          <a:prstGeom prst="roundRect">
            <a:avLst>
              <a:gd name="adj" fmla="val 5161"/>
            </a:avLst>
          </a:prstGeom>
          <a:solidFill>
            <a:schemeClr val="bg2"/>
          </a:solidFill>
          <a:ln/>
        </p:spPr>
        <p:txBody>
          <a:bodyPr/>
          <a:lstStyle/>
          <a:p>
            <a:endParaRPr lang="en-US"/>
          </a:p>
        </p:txBody>
      </p:sp>
      <p:sp>
        <p:nvSpPr>
          <p:cNvPr id="17" name="Insight number 1"/>
          <p:cNvSpPr txBox="1"/>
          <p:nvPr/>
        </p:nvSpPr>
        <p:spPr>
          <a:xfrm>
            <a:off x="8366760" y="1554480"/>
            <a:ext cx="731520" cy="123444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p:txBody>
      </p:sp>
      <p:sp>
        <p:nvSpPr>
          <p:cNvPr id="18" name="Insight label 1"/>
          <p:cNvSpPr txBox="1"/>
          <p:nvPr/>
        </p:nvSpPr>
        <p:spPr>
          <a:xfrm>
            <a:off x="9144000" y="1554480"/>
            <a:ext cx="2331720" cy="1234440"/>
          </a:xfrm>
          <a:prstGeom prst="rect">
            <a:avLst/>
          </a:prstGeom>
          <a:noFill/>
          <a:ln/>
        </p:spPr>
        <p:txBody>
          <a:bodyPr wrap="square" lIns="0" tIns="0" rIns="0" bIns="0" rtlCol="0" anchor="ctr"/>
          <a:lstStyle/>
          <a:p>
            <a:pPr marL="0" indent="0">
              <a:buNone/>
            </a:pPr>
            <a:r>
              <a:rPr lang="en-US" sz="1400" dirty="0">
                <a:solidFill>
                  <a:schemeClr val="tx1"/>
                </a:solidFill>
              </a:rPr>
              <a:t>Drake's degree, 2.3x the network average of 1.73</a:t>
            </a:r>
            <a:endParaRPr lang="en-US" sz="1400" dirty="0"/>
          </a:p>
        </p:txBody>
      </p:sp>
      <p:sp>
        <p:nvSpPr>
          <p:cNvPr id="19" name="Insight card 2"/>
          <p:cNvSpPr/>
          <p:nvPr/>
        </p:nvSpPr>
        <p:spPr>
          <a:xfrm>
            <a:off x="8183880" y="3063240"/>
            <a:ext cx="3456432" cy="1417320"/>
          </a:xfrm>
          <a:prstGeom prst="roundRect">
            <a:avLst>
              <a:gd name="adj" fmla="val 5161"/>
            </a:avLst>
          </a:prstGeom>
          <a:solidFill>
            <a:schemeClr val="bg2"/>
          </a:solidFill>
          <a:ln/>
        </p:spPr>
        <p:txBody>
          <a:bodyPr/>
          <a:lstStyle/>
          <a:p>
            <a:endParaRPr lang="en-US"/>
          </a:p>
        </p:txBody>
      </p:sp>
      <p:sp>
        <p:nvSpPr>
          <p:cNvPr id="20" name="Insight number 2"/>
          <p:cNvSpPr txBox="1"/>
          <p:nvPr/>
        </p:nvSpPr>
        <p:spPr>
          <a:xfrm>
            <a:off x="8366760" y="3154680"/>
            <a:ext cx="731520" cy="123444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6</a:t>
            </a:r>
            <a:endParaRPr lang="en-US" sz="4000" dirty="0"/>
          </a:p>
        </p:txBody>
      </p:sp>
      <p:sp>
        <p:nvSpPr>
          <p:cNvPr id="21" name="Insight label 2"/>
          <p:cNvSpPr txBox="1"/>
          <p:nvPr/>
        </p:nvSpPr>
        <p:spPr>
          <a:xfrm>
            <a:off x="9144000" y="3154680"/>
            <a:ext cx="2331720" cy="1234440"/>
          </a:xfrm>
          <a:prstGeom prst="rect">
            <a:avLst/>
          </a:prstGeom>
          <a:noFill/>
          <a:ln/>
        </p:spPr>
        <p:txBody>
          <a:bodyPr wrap="square" lIns="0" tIns="0" rIns="0" bIns="0" rtlCol="0" anchor="ctr"/>
          <a:lstStyle/>
          <a:p>
            <a:pPr marL="0" indent="0">
              <a:buNone/>
            </a:pPr>
            <a:r>
              <a:rPr lang="en-US" sz="1400" dirty="0">
                <a:solidFill>
                  <a:schemeClr val="tx1"/>
                </a:solidFill>
              </a:rPr>
              <a:t>artists at degree 3: Selena Gomez, Kendrick Lamar, Cardi B, Nicki Minaj, Rihanna, Bad Bunny</a:t>
            </a:r>
            <a:endParaRPr lang="en-US" sz="1400" dirty="0"/>
          </a:p>
        </p:txBody>
      </p:sp>
      <p:sp>
        <p:nvSpPr>
          <p:cNvPr id="22" name="Insight card 3"/>
          <p:cNvSpPr/>
          <p:nvPr/>
        </p:nvSpPr>
        <p:spPr>
          <a:xfrm>
            <a:off x="8183880" y="4663440"/>
            <a:ext cx="3456432" cy="1417320"/>
          </a:xfrm>
          <a:prstGeom prst="roundRect">
            <a:avLst>
              <a:gd name="adj" fmla="val 5161"/>
            </a:avLst>
          </a:prstGeom>
          <a:solidFill>
            <a:schemeClr val="bg2"/>
          </a:solidFill>
          <a:ln/>
        </p:spPr>
        <p:txBody>
          <a:bodyPr/>
          <a:lstStyle/>
          <a:p>
            <a:endParaRPr lang="en-US"/>
          </a:p>
        </p:txBody>
      </p:sp>
      <p:sp>
        <p:nvSpPr>
          <p:cNvPr id="23" name="Insight number 3"/>
          <p:cNvSpPr txBox="1"/>
          <p:nvPr/>
        </p:nvSpPr>
        <p:spPr>
          <a:xfrm>
            <a:off x="8366760" y="4754880"/>
            <a:ext cx="731520" cy="123444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24" name="Insight label 3"/>
          <p:cNvSpPr txBox="1"/>
          <p:nvPr/>
        </p:nvSpPr>
        <p:spPr>
          <a:xfrm>
            <a:off x="9144000" y="4754880"/>
            <a:ext cx="2331720" cy="1234440"/>
          </a:xfrm>
          <a:prstGeom prst="rect">
            <a:avLst/>
          </a:prstGeom>
          <a:noFill/>
          <a:ln/>
        </p:spPr>
        <p:txBody>
          <a:bodyPr wrap="square" lIns="0" tIns="0" rIns="0" bIns="0" rtlCol="0" anchor="ctr"/>
          <a:lstStyle/>
          <a:p>
            <a:pPr marL="0" indent="0">
              <a:buNone/>
            </a:pPr>
            <a:r>
              <a:rPr lang="en-US" sz="1400" dirty="0">
                <a:solidFill>
                  <a:schemeClr val="tx1"/>
                </a:solidFill>
              </a:rPr>
              <a:t>genres reached by Drake's four collaborators: Hip-Hop, R&amp;B and Latin</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Degree distribution</a:t>
            </a:r>
            <a:endParaRPr lang="en-US" sz="3400" dirty="0"/>
          </a:p>
        </p:txBody>
      </p:sp>
      <p:sp>
        <p:nvSpPr>
          <p:cNvPr id="3" name="Distribution chart card"/>
          <p:cNvSpPr/>
          <p:nvPr/>
        </p:nvSpPr>
        <p:spPr>
          <a:xfrm>
            <a:off x="548640" y="1463040"/>
            <a:ext cx="5943600" cy="4754880"/>
          </a:xfrm>
          <a:prstGeom prst="roundRect">
            <a:avLst>
              <a:gd name="adj" fmla="val 1538"/>
            </a:avLst>
          </a:prstGeom>
          <a:solidFill>
            <a:schemeClr val="bg2"/>
          </a:solidFill>
          <a:ln/>
        </p:spPr>
        <p:txBody>
          <a:bodyPr/>
          <a:lstStyle/>
          <a:p>
            <a:endParaRPr lang="en-US"/>
          </a:p>
        </p:txBody>
      </p:sp>
      <p:graphicFrame>
        <p:nvGraphicFramePr>
          <p:cNvPr id="4" name="Chart 0"/>
          <p:cNvGraphicFramePr/>
          <p:nvPr/>
        </p:nvGraphicFramePr>
        <p:xfrm>
          <a:off x="731520" y="1554480"/>
          <a:ext cx="5577840" cy="457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Degree frequency table"/>
          <p:cNvGraphicFramePr>
            <a:graphicFrameLocks noGrp="1"/>
          </p:cNvGraphicFramePr>
          <p:nvPr>
            <p:extLst>
              <p:ext uri="{D42A27DB-BD31-4B8C-83A1-F6EECF244321}">
                <p14:modId xmlns:p14="http://schemas.microsoft.com/office/powerpoint/2010/main" val="1579011935"/>
              </p:ext>
            </p:extLst>
          </p:nvPr>
        </p:nvGraphicFramePr>
        <p:xfrm>
          <a:off x="6858000" y="1463040"/>
          <a:ext cx="4782312"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chemeClr val="bg1"/>
                          </a:solidFill>
                        </a:rPr>
                        <a:t>Degree</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Artists</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rPr>
                        <a:t>Share</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chemeClr val="tx2"/>
                          </a:solidFill>
                        </a:rPr>
                        <a:t>0</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1</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3.3%</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chemeClr val="tx2"/>
                          </a:solidFill>
                        </a:rPr>
                        <a:t>1</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14</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46.7%</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chemeClr val="tx2"/>
                          </a:solidFill>
                        </a:rPr>
                        <a:t>2</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8</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26.7%</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lgn="l">
                        <a:buNone/>
                      </a:pPr>
                      <a:r>
                        <a:rPr lang="en-US" sz="1400" dirty="0">
                          <a:solidFill>
                            <a:schemeClr val="tx2"/>
                          </a:solidFill>
                        </a:rPr>
                        <a:t>3</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6</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2"/>
                          </a:solidFill>
                        </a:rPr>
                        <a:t>20.0%</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lgn="l">
                        <a:buNone/>
                      </a:pPr>
                      <a:r>
                        <a:rPr lang="en-US" sz="1400" dirty="0">
                          <a:solidFill>
                            <a:schemeClr val="tx2"/>
                          </a:solidFill>
                        </a:rPr>
                        <a:t>4</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1</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2"/>
                          </a:solidFill>
                        </a:rPr>
                        <a:t>3.3%</a:t>
                      </a:r>
                      <a:endParaRPr lang="en-US" sz="1400" dirty="0"/>
                    </a:p>
                  </a:txBody>
                  <a:tcPr marL="109728" marR="109728" marT="0" marB="0" anchor="ctr">
                    <a:lnL w="9525" cap="flat" cmpd="sng" algn="ctr">
                      <a:solidFill>
                        <a:srgbClr val="D9DDE5"/>
                      </a:solidFill>
                      <a:prstDash val="solid"/>
                      <a:round/>
                      <a:headEnd type="none" w="med" len="med"/>
                      <a:tailEnd type="none" w="med" len="med"/>
                    </a:lnL>
                    <a:lnR w="9525" cap="flat" cmpd="sng" algn="ctr">
                      <a:solidFill>
                        <a:srgbClr val="D9DDE5"/>
                      </a:solidFill>
                      <a:prstDash val="solid"/>
                      <a:round/>
                      <a:headEnd type="none" w="med" len="med"/>
                      <a:tailEnd type="none" w="med" len="med"/>
                    </a:lnR>
                    <a:lnT w="9525" cap="flat" cmpd="sng" algn="ctr">
                      <a:solidFill>
                        <a:srgbClr val="D9DDE5"/>
                      </a:solidFill>
                      <a:prstDash val="solid"/>
                      <a:round/>
                      <a:headEnd type="none" w="med" len="med"/>
                      <a:tailEnd type="none" w="med" len="med"/>
                    </a:lnT>
                    <a:lnB w="9525"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6" name="Distribution takeaway card"/>
          <p:cNvSpPr/>
          <p:nvPr/>
        </p:nvSpPr>
        <p:spPr>
          <a:xfrm>
            <a:off x="6858000" y="4526280"/>
            <a:ext cx="4782312" cy="1691640"/>
          </a:xfrm>
          <a:prstGeom prst="roundRect">
            <a:avLst>
              <a:gd name="adj" fmla="val 4324"/>
            </a:avLst>
          </a:prstGeom>
          <a:solidFill>
            <a:schemeClr val="bg2"/>
          </a:solidFill>
          <a:ln/>
        </p:spPr>
        <p:txBody>
          <a:bodyPr/>
          <a:lstStyle/>
          <a:p>
            <a:endParaRPr lang="en-US"/>
          </a:p>
        </p:txBody>
      </p:sp>
      <p:sp>
        <p:nvSpPr>
          <p:cNvPr id="7" name="Distribution takeaway"/>
          <p:cNvSpPr txBox="1"/>
          <p:nvPr/>
        </p:nvSpPr>
        <p:spPr>
          <a:xfrm>
            <a:off x="7086600" y="4663440"/>
            <a:ext cx="4343400" cy="1417320"/>
          </a:xfrm>
          <a:prstGeom prst="rect">
            <a:avLst/>
          </a:prstGeom>
          <a:noFill/>
          <a:ln/>
        </p:spPr>
        <p:txBody>
          <a:bodyPr wrap="square" lIns="0" tIns="0" rIns="0" bIns="0" rtlCol="0" anchor="ctr"/>
          <a:lstStyle/>
          <a:p>
            <a:pPr marL="0" indent="0">
              <a:buNone/>
            </a:pPr>
            <a:r>
              <a:rPr lang="en-US" sz="1400" dirty="0">
                <a:solidFill>
                  <a:schemeClr val="tx1"/>
                </a:solidFill>
              </a:rPr>
              <a:t>Nearly half of the artists (14 of 30) are pendent vertices, and only 7 have three or more collaborations. The network is skewed toward low degree: a few hubs, many one-collaboration artists.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Degree table </a:t>
            </a:r>
            <a:endParaRPr lang="en-US" sz="3400" dirty="0"/>
          </a:p>
        </p:txBody>
      </p:sp>
      <p:graphicFrame>
        <p:nvGraphicFramePr>
          <p:cNvPr id="12" name="Degree table ranks 1-15"/>
          <p:cNvGraphicFramePr>
            <a:graphicFrameLocks noGrp="1"/>
          </p:cNvGraphicFramePr>
          <p:nvPr>
            <p:extLst>
              <p:ext uri="{D42A27DB-BD31-4B8C-83A1-F6EECF244321}">
                <p14:modId xmlns:p14="http://schemas.microsoft.com/office/powerpoint/2010/main" val="1579011935"/>
              </p:ext>
            </p:extLst>
          </p:nvPr>
        </p:nvGraphicFramePr>
        <p:xfrm>
          <a:off x="548640" y="1325880"/>
          <a:ext cx="5394960" cy="4535424"/>
        </p:xfrm>
        <a:graphic>
          <a:graphicData uri="http://schemas.openxmlformats.org/drawingml/2006/table">
            <a:tbl>
              <a:tblPr/>
              <a:tblGrid>
                <a:gridCol w="548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83464">
                <a:tc>
                  <a:txBody>
                    <a:bodyPr/>
                    <a:lstStyle/>
                    <a:p>
                      <a:pPr marL="0" indent="0" algn="ctr">
                        <a:buNone/>
                      </a:pPr>
                      <a:r>
                        <a:rPr lang="en-US" sz="1200" b="1" dirty="0">
                          <a:solidFill>
                            <a:schemeClr val="bg1"/>
                          </a:solidFill>
                        </a:rPr>
                        <a: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Artist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Genre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Degree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lgn="ctr">
                        <a:buNone/>
                      </a:pPr>
                      <a:r>
                        <a:rPr lang="en-US" sz="1200" dirty="0">
                          <a:solidFill>
                            <a:schemeClr val="tx2"/>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Drake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4</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83464">
                <a:tc>
                  <a:txBody>
                    <a:bodyPr/>
                    <a:lstStyle/>
                    <a:p>
                      <a:pPr marL="0" indent="0" algn="ctr">
                        <a:buNone/>
                      </a:pPr>
                      <a:r>
                        <a:rPr lang="en-US" sz="1200" dirty="0">
                          <a:solidFill>
                            <a:schemeClr val="tx2"/>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Selena Gomez</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lgn="ctr">
                        <a:buNone/>
                      </a:pPr>
                      <a:r>
                        <a:rPr lang="en-US" sz="1200" dirty="0">
                          <a:solidFill>
                            <a:schemeClr val="tx2"/>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Kendrick Lamar</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3464">
                <a:tc>
                  <a:txBody>
                    <a:bodyPr/>
                    <a:lstStyle/>
                    <a:p>
                      <a:pPr marL="0" indent="0" algn="ctr">
                        <a:buNone/>
                      </a:pPr>
                      <a:r>
                        <a:rPr lang="en-US" sz="1200" dirty="0">
                          <a:solidFill>
                            <a:schemeClr val="tx2"/>
                          </a:solidFill>
                        </a:rPr>
                        <a:t>4</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Cardi 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lgn="ctr">
                        <a:buNone/>
                      </a:pPr>
                      <a:r>
                        <a:rPr lang="en-US" sz="1200" dirty="0">
                          <a:solidFill>
                            <a:schemeClr val="tx2"/>
                          </a:solidFill>
                        </a:rPr>
                        <a:t>5</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Nicki Minaj</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83464">
                <a:tc>
                  <a:txBody>
                    <a:bodyPr/>
                    <a:lstStyle/>
                    <a:p>
                      <a:pPr marL="0" indent="0" algn="ctr">
                        <a:buNone/>
                      </a:pPr>
                      <a:r>
                        <a:rPr lang="en-US" sz="1200" dirty="0">
                          <a:solidFill>
                            <a:schemeClr val="tx2"/>
                          </a:solidFill>
                        </a:rPr>
                        <a:t>6</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Rihanna</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R&amp;B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lgn="ctr">
                        <a:buNone/>
                      </a:pPr>
                      <a:r>
                        <a:rPr lang="en-US" sz="1200" dirty="0">
                          <a:solidFill>
                            <a:schemeClr val="tx2"/>
                          </a:solidFill>
                        </a:rPr>
                        <a:t>7</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Bad Bunny</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Latin</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283464">
                <a:tc>
                  <a:txBody>
                    <a:bodyPr/>
                    <a:lstStyle/>
                    <a:p>
                      <a:pPr marL="0" indent="0" algn="ctr">
                        <a:buNone/>
                      </a:pPr>
                      <a:r>
                        <a:rPr lang="en-US" sz="1200" dirty="0">
                          <a:solidFill>
                            <a:schemeClr val="tx2"/>
                          </a:solidFill>
                        </a:rPr>
                        <a:t>8</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Ed Sheeran</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lgn="ctr">
                        <a:buNone/>
                      </a:pPr>
                      <a:r>
                        <a:rPr lang="en-US" sz="1200" dirty="0">
                          <a:solidFill>
                            <a:schemeClr val="tx2"/>
                          </a:solidFill>
                        </a:rPr>
                        <a:t>9</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Justin Bieber</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283464">
                <a:tc>
                  <a:txBody>
                    <a:bodyPr/>
                    <a:lstStyle/>
                    <a:p>
                      <a:pPr marL="0" indent="0" algn="ctr">
                        <a:buNone/>
                      </a:pPr>
                      <a:r>
                        <a:rPr lang="en-US" sz="1200" dirty="0">
                          <a:solidFill>
                            <a:schemeClr val="tx2"/>
                          </a:solidFill>
                        </a:rPr>
                        <a:t>10</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Ariana Grande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83464">
                <a:tc>
                  <a:txBody>
                    <a:bodyPr/>
                    <a:lstStyle/>
                    <a:p>
                      <a:pPr marL="0" indent="0" algn="ctr">
                        <a:buNone/>
                      </a:pPr>
                      <a:r>
                        <a:rPr lang="en-US" sz="1200" dirty="0">
                          <a:solidFill>
                            <a:schemeClr val="tx2"/>
                          </a:solidFill>
                        </a:rPr>
                        <a:t>11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Travis Scott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r h="283464">
                <a:tc>
                  <a:txBody>
                    <a:bodyPr/>
                    <a:lstStyle/>
                    <a:p>
                      <a:pPr marL="0" indent="0" algn="ctr">
                        <a:buNone/>
                      </a:pPr>
                      <a:r>
                        <a:rPr lang="en-US" sz="1200" dirty="0">
                          <a:solidFill>
                            <a:schemeClr val="tx2"/>
                          </a:solidFill>
                        </a:rPr>
                        <a:t>12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Eminem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3464">
                <a:tc>
                  <a:txBody>
                    <a:bodyPr/>
                    <a:lstStyle/>
                    <a:p>
                      <a:pPr marL="0" indent="0" algn="ctr">
                        <a:buNone/>
                      </a:pPr>
                      <a:r>
                        <a:rPr lang="en-US" sz="1200" dirty="0">
                          <a:solidFill>
                            <a:schemeClr val="tx2"/>
                          </a:solidFill>
                        </a:rPr>
                        <a:t>13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Calvin Harris</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EDM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3"/>
                  </a:ext>
                </a:extLst>
              </a:tr>
              <a:tr h="283464">
                <a:tc>
                  <a:txBody>
                    <a:bodyPr/>
                    <a:lstStyle/>
                    <a:p>
                      <a:pPr marL="0" indent="0" algn="ctr">
                        <a:buNone/>
                      </a:pPr>
                      <a:r>
                        <a:rPr lang="en-US" sz="1200" dirty="0">
                          <a:solidFill>
                            <a:schemeClr val="tx2"/>
                          </a:solidFill>
                        </a:rPr>
                        <a:t>14</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David Guetta</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EDM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83464">
                <a:tc>
                  <a:txBody>
                    <a:bodyPr/>
                    <a:lstStyle/>
                    <a:p>
                      <a:pPr marL="0" indent="0" algn="ctr">
                        <a:buNone/>
                      </a:pPr>
                      <a:r>
                        <a:rPr lang="en-US" sz="1200" dirty="0">
                          <a:solidFill>
                            <a:schemeClr val="tx2"/>
                          </a:solidFill>
                        </a:rPr>
                        <a:t>15</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J Balvin</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Latin</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5"/>
                  </a:ext>
                </a:extLst>
              </a:tr>
            </a:tbl>
          </a:graphicData>
        </a:graphic>
      </p:graphicFrame>
      <p:graphicFrame>
        <p:nvGraphicFramePr>
          <p:cNvPr id="23" name="Degree table ranks 16-30"/>
          <p:cNvGraphicFramePr>
            <a:graphicFrameLocks noGrp="1"/>
          </p:cNvGraphicFramePr>
          <p:nvPr>
            <p:extLst>
              <p:ext uri="{D42A27DB-BD31-4B8C-83A1-F6EECF244321}">
                <p14:modId xmlns:p14="http://schemas.microsoft.com/office/powerpoint/2010/main" val="1579011935"/>
              </p:ext>
            </p:extLst>
          </p:nvPr>
        </p:nvGraphicFramePr>
        <p:xfrm>
          <a:off x="6245352" y="1325880"/>
          <a:ext cx="5394960" cy="4535424"/>
        </p:xfrm>
        <a:graphic>
          <a:graphicData uri="http://schemas.openxmlformats.org/drawingml/2006/table">
            <a:tbl>
              <a:tblPr/>
              <a:tblGrid>
                <a:gridCol w="548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83464">
                <a:tc>
                  <a:txBody>
                    <a:bodyPr/>
                    <a:lstStyle/>
                    <a:p>
                      <a:pPr marL="0" indent="0" algn="ctr">
                        <a:buNone/>
                      </a:pPr>
                      <a:r>
                        <a:rPr lang="en-US" sz="1200" b="1" dirty="0">
                          <a:solidFill>
                            <a:schemeClr val="bg1"/>
                          </a:solidFill>
                        </a:rPr>
                        <a: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Artist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Genre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Degree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lgn="ctr">
                        <a:buNone/>
                      </a:pPr>
                      <a:r>
                        <a:rPr lang="en-US" sz="1200" dirty="0">
                          <a:solidFill>
                            <a:schemeClr val="tx2"/>
                          </a:solidFill>
                        </a:rPr>
                        <a:t>16</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Taylor Swift</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83464">
                <a:tc>
                  <a:txBody>
                    <a:bodyPr/>
                    <a:lstStyle/>
                    <a:p>
                      <a:pPr marL="0" indent="0" algn="ctr">
                        <a:buNone/>
                      </a:pPr>
                      <a:r>
                        <a:rPr lang="en-US" sz="1200" dirty="0">
                          <a:solidFill>
                            <a:schemeClr val="tx2"/>
                          </a:solidFill>
                        </a:rPr>
                        <a:t>17</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Dua Lipa</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lgn="ctr">
                        <a:buNone/>
                      </a:pPr>
                      <a:r>
                        <a:rPr lang="en-US" sz="1200" dirty="0">
                          <a:solidFill>
                            <a:schemeClr val="tx2"/>
                          </a:solidFill>
                        </a:rPr>
                        <a:t>18</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Sia</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3464">
                <a:tc>
                  <a:txBody>
                    <a:bodyPr/>
                    <a:lstStyle/>
                    <a:p>
                      <a:pPr marL="0" indent="0" algn="ctr">
                        <a:buNone/>
                      </a:pPr>
                      <a:r>
                        <a:rPr lang="en-US" sz="1200" dirty="0">
                          <a:solidFill>
                            <a:schemeClr val="tx2"/>
                          </a:solidFill>
                        </a:rPr>
                        <a:t>19</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Post Malone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lgn="ctr">
                        <a:buNone/>
                      </a:pPr>
                      <a:r>
                        <a:rPr lang="en-US" sz="1200" dirty="0">
                          <a:solidFill>
                            <a:schemeClr val="tx2"/>
                          </a:solidFill>
                        </a:rPr>
                        <a:t>20</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Jay-Z</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Hip-Hop</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83464">
                <a:tc>
                  <a:txBody>
                    <a:bodyPr/>
                    <a:lstStyle/>
                    <a:p>
                      <a:pPr marL="0" indent="0" algn="ctr">
                        <a:buNone/>
                      </a:pPr>
                      <a:r>
                        <a:rPr lang="en-US" sz="1200" dirty="0">
                          <a:solidFill>
                            <a:schemeClr val="tx2"/>
                          </a:solidFill>
                        </a:rPr>
                        <a:t>21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The Weeknd</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R&amp;B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lgn="ctr">
                        <a:buNone/>
                      </a:pPr>
                      <a:r>
                        <a:rPr lang="en-US" sz="1200" dirty="0">
                          <a:solidFill>
                            <a:schemeClr val="tx2"/>
                          </a:solidFill>
                        </a:rPr>
                        <a:t>22</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SZA</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R&amp;B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283464">
                <a:tc>
                  <a:txBody>
                    <a:bodyPr/>
                    <a:lstStyle/>
                    <a:p>
                      <a:pPr marL="0" indent="0" algn="ctr">
                        <a:buNone/>
                      </a:pPr>
                      <a:r>
                        <a:rPr lang="en-US" sz="1200" dirty="0">
                          <a:solidFill>
                            <a:schemeClr val="tx2"/>
                          </a:solidFill>
                        </a:rPr>
                        <a:t>23</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Beyonce</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R&amp;B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lgn="ctr">
                        <a:buNone/>
                      </a:pPr>
                      <a:r>
                        <a:rPr lang="en-US" sz="1200" dirty="0">
                          <a:solidFill>
                            <a:schemeClr val="tx2"/>
                          </a:solidFill>
                        </a:rPr>
                        <a:t>24</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Bruno Mars</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R&amp;B</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283464">
                <a:tc>
                  <a:txBody>
                    <a:bodyPr/>
                    <a:lstStyle/>
                    <a:p>
                      <a:pPr marL="0" indent="0" algn="ctr">
                        <a:buNone/>
                      </a:pPr>
                      <a:r>
                        <a:rPr lang="en-US" sz="1200" dirty="0">
                          <a:solidFill>
                            <a:schemeClr val="tx2"/>
                          </a:solidFill>
                        </a:rPr>
                        <a:t>25</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Marshmello</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EDM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83464">
                <a:tc>
                  <a:txBody>
                    <a:bodyPr/>
                    <a:lstStyle/>
                    <a:p>
                      <a:pPr marL="0" indent="0" algn="ctr">
                        <a:buNone/>
                      </a:pPr>
                      <a:r>
                        <a:rPr lang="en-US" sz="1200" dirty="0">
                          <a:solidFill>
                            <a:schemeClr val="tx2"/>
                          </a:solidFill>
                        </a:rPr>
                        <a:t>26</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Zedd</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EDM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r h="283464">
                <a:tc>
                  <a:txBody>
                    <a:bodyPr/>
                    <a:lstStyle/>
                    <a:p>
                      <a:pPr marL="0" indent="0" algn="ctr">
                        <a:buNone/>
                      </a:pPr>
                      <a:r>
                        <a:rPr lang="en-US" sz="1200" dirty="0">
                          <a:solidFill>
                            <a:schemeClr val="tx2"/>
                          </a:solidFill>
                        </a:rPr>
                        <a:t>27</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Kygo</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EDM</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3464">
                <a:tc>
                  <a:txBody>
                    <a:bodyPr/>
                    <a:lstStyle/>
                    <a:p>
                      <a:pPr marL="0" indent="0" algn="ctr">
                        <a:buNone/>
                      </a:pPr>
                      <a:r>
                        <a:rPr lang="en-US" sz="1200" dirty="0">
                          <a:solidFill>
                            <a:schemeClr val="tx2"/>
                          </a:solidFill>
                        </a:rPr>
                        <a:t>28</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Imagine Dragons</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Rock</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3"/>
                  </a:ext>
                </a:extLst>
              </a:tr>
              <a:tr h="283464">
                <a:tc>
                  <a:txBody>
                    <a:bodyPr/>
                    <a:lstStyle/>
                    <a:p>
                      <a:pPr marL="0" indent="0" algn="ctr">
                        <a:buNone/>
                      </a:pPr>
                      <a:r>
                        <a:rPr lang="en-US" sz="1200" dirty="0">
                          <a:solidFill>
                            <a:schemeClr val="tx2"/>
                          </a:solidFill>
                        </a:rPr>
                        <a:t>29</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b="1" dirty="0">
                          <a:solidFill>
                            <a:schemeClr val="tx1"/>
                          </a:solidFill>
                        </a:rPr>
                        <a:t>Karol G</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Latin</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1</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83464">
                <a:tc>
                  <a:txBody>
                    <a:bodyPr/>
                    <a:lstStyle/>
                    <a:p>
                      <a:pPr marL="0" indent="0" algn="ctr">
                        <a:buNone/>
                      </a:pPr>
                      <a:r>
                        <a:rPr lang="en-US" sz="1200" dirty="0">
                          <a:solidFill>
                            <a:schemeClr val="tx2"/>
                          </a:solidFill>
                        </a:rPr>
                        <a:t>30</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b="1" dirty="0">
                          <a:solidFill>
                            <a:schemeClr val="tx1"/>
                          </a:solidFill>
                        </a:rPr>
                        <a:t>Twenty One Pilots</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Rock</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tx1"/>
                          </a:solidFill>
                        </a:rPr>
                        <a:t>0</a:t>
                      </a:r>
                      <a:endParaRPr lang="en-US" sz="1200" dirty="0"/>
                    </a:p>
                  </a:txBody>
                  <a:tcPr marL="73152" marR="73152"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15"/>
                  </a:ext>
                </a:extLst>
              </a:tr>
            </a:tbl>
          </a:graphicData>
        </a:graphic>
      </p:graphicFrame>
      <p:sp>
        <p:nvSpPr>
          <p:cNvPr id="5" name="Table note"/>
          <p:cNvSpPr txBox="1"/>
          <p:nvPr/>
        </p:nvSpPr>
        <p:spPr>
          <a:xfrm>
            <a:off x="548640" y="6053328"/>
            <a:ext cx="11091672" cy="274320"/>
          </a:xfrm>
          <a:prstGeom prst="rect">
            <a:avLst/>
          </a:prstGeom>
          <a:noFill/>
          <a:ln/>
        </p:spPr>
        <p:txBody>
          <a:bodyPr wrap="square" lIns="0" tIns="0" rIns="0" bIns="0" rtlCol="0" anchor="t"/>
          <a:lstStyle/>
          <a:p>
            <a:pPr marL="0" indent="0">
              <a:buNone/>
            </a:pPr>
            <a:r>
              <a:rPr lang="en-US" sz="1100" dirty="0">
                <a:solidFill>
                  <a:schemeClr val="tx2"/>
                </a:solidFill>
              </a:rPr>
              <a:t>Ties share a degree; rows within a tie follow the order produced by the script. Source: degree_table.csv.</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Genre labels vs detected clusters</a:t>
            </a:r>
            <a:endParaRPr lang="en-US" sz="3400" dirty="0"/>
          </a:p>
        </p:txBody>
      </p:sp>
      <p:pic>
        <p:nvPicPr>
          <p:cNvPr id="3" name="Image 0" descr="Network coloured by detected modularity community instead of genre"/>
          <p:cNvPicPr>
            <a:picLocks noChangeAspect="1"/>
          </p:cNvPicPr>
          <p:nvPr/>
        </p:nvPicPr>
        <p:blipFill>
          <a:blip r:embed="rId3"/>
          <a:stretch>
            <a:fillRect/>
          </a:stretch>
        </p:blipFill>
        <p:spPr>
          <a:xfrm>
            <a:off x="548640" y="1463040"/>
            <a:ext cx="5486400" cy="4354286"/>
          </a:xfrm>
          <a:prstGeom prst="rect">
            <a:avLst/>
          </a:prstGeom>
        </p:spPr>
      </p:pic>
      <p:sp>
        <p:nvSpPr>
          <p:cNvPr id="4" name="Cluster stat card 1"/>
          <p:cNvSpPr/>
          <p:nvPr/>
        </p:nvSpPr>
        <p:spPr>
          <a:xfrm>
            <a:off x="6355080" y="1463040"/>
            <a:ext cx="2587752" cy="1325880"/>
          </a:xfrm>
          <a:prstGeom prst="roundRect">
            <a:avLst>
              <a:gd name="adj" fmla="val 5517"/>
            </a:avLst>
          </a:prstGeom>
          <a:solidFill>
            <a:schemeClr val="bg2"/>
          </a:solidFill>
          <a:ln/>
        </p:spPr>
        <p:txBody>
          <a:bodyPr/>
          <a:lstStyle/>
          <a:p>
            <a:endParaRPr lang="en-US"/>
          </a:p>
        </p:txBody>
      </p:sp>
      <p:sp>
        <p:nvSpPr>
          <p:cNvPr id="5" name="Cluster stat 1"/>
          <p:cNvSpPr txBox="1"/>
          <p:nvPr/>
        </p:nvSpPr>
        <p:spPr>
          <a:xfrm>
            <a:off x="6537960" y="1554480"/>
            <a:ext cx="224028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6 of 7</a:t>
            </a:r>
            <a:endParaRPr lang="en-US" sz="3000" dirty="0"/>
          </a:p>
        </p:txBody>
      </p:sp>
      <p:sp>
        <p:nvSpPr>
          <p:cNvPr id="6" name="Cluster stat label 1"/>
          <p:cNvSpPr txBox="1"/>
          <p:nvPr/>
        </p:nvSpPr>
        <p:spPr>
          <a:xfrm>
            <a:off x="6537960" y="2194560"/>
            <a:ext cx="2240280" cy="548640"/>
          </a:xfrm>
          <a:prstGeom prst="rect">
            <a:avLst/>
          </a:prstGeom>
          <a:noFill/>
          <a:ln/>
        </p:spPr>
        <p:txBody>
          <a:bodyPr wrap="square" lIns="0" tIns="0" rIns="0" bIns="0" rtlCol="0" anchor="t"/>
          <a:lstStyle/>
          <a:p>
            <a:pPr marL="0" indent="0">
              <a:buNone/>
            </a:pPr>
            <a:r>
              <a:rPr lang="en-US" sz="1400" dirty="0">
                <a:solidFill>
                  <a:schemeClr val="tx1"/>
                </a:solidFill>
              </a:rPr>
              <a:t>clusters mix two or more genres</a:t>
            </a:r>
            <a:endParaRPr lang="en-US" sz="1400" dirty="0"/>
          </a:p>
        </p:txBody>
      </p:sp>
      <p:sp>
        <p:nvSpPr>
          <p:cNvPr id="7" name="Cluster stat card 2"/>
          <p:cNvSpPr/>
          <p:nvPr/>
        </p:nvSpPr>
        <p:spPr>
          <a:xfrm>
            <a:off x="9052560" y="1463040"/>
            <a:ext cx="2587752" cy="1325880"/>
          </a:xfrm>
          <a:prstGeom prst="roundRect">
            <a:avLst>
              <a:gd name="adj" fmla="val 5517"/>
            </a:avLst>
          </a:prstGeom>
          <a:solidFill>
            <a:schemeClr val="bg2"/>
          </a:solidFill>
          <a:ln/>
        </p:spPr>
        <p:txBody>
          <a:bodyPr/>
          <a:lstStyle/>
          <a:p>
            <a:endParaRPr lang="en-US"/>
          </a:p>
        </p:txBody>
      </p:sp>
      <p:sp>
        <p:nvSpPr>
          <p:cNvPr id="8" name="Cluster stat 2"/>
          <p:cNvSpPr txBox="1"/>
          <p:nvPr/>
        </p:nvSpPr>
        <p:spPr>
          <a:xfrm>
            <a:off x="9235440" y="1554480"/>
            <a:ext cx="224028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65%</a:t>
            </a:r>
            <a:endParaRPr lang="en-US" sz="3000" dirty="0"/>
          </a:p>
        </p:txBody>
      </p:sp>
      <p:sp>
        <p:nvSpPr>
          <p:cNvPr id="9" name="Cluster stat label 2"/>
          <p:cNvSpPr txBox="1"/>
          <p:nvPr/>
        </p:nvSpPr>
        <p:spPr>
          <a:xfrm>
            <a:off x="9235440" y="2194560"/>
            <a:ext cx="2240280" cy="548640"/>
          </a:xfrm>
          <a:prstGeom prst="rect">
            <a:avLst/>
          </a:prstGeom>
          <a:noFill/>
          <a:ln/>
        </p:spPr>
        <p:txBody>
          <a:bodyPr wrap="square" lIns="0" tIns="0" rIns="0" bIns="0" rtlCol="0" anchor="t"/>
          <a:lstStyle/>
          <a:p>
            <a:pPr marL="0" indent="0">
              <a:buNone/>
            </a:pPr>
            <a:r>
              <a:rPr lang="en-US" sz="1400" dirty="0">
                <a:solidFill>
                  <a:schemeClr val="tx1"/>
                </a:solidFill>
              </a:rPr>
              <a:t>of collaborations (17 of 26) cross genre lines</a:t>
            </a:r>
            <a:endParaRPr lang="en-US" sz="1400" dirty="0"/>
          </a:p>
        </p:txBody>
      </p:sp>
      <p:graphicFrame>
        <p:nvGraphicFramePr>
          <p:cNvPr id="13" name="Communities table"/>
          <p:cNvGraphicFramePr>
            <a:graphicFrameLocks noGrp="1"/>
          </p:cNvGraphicFramePr>
          <p:nvPr>
            <p:extLst>
              <p:ext uri="{D42A27DB-BD31-4B8C-83A1-F6EECF244321}">
                <p14:modId xmlns:p14="http://schemas.microsoft.com/office/powerpoint/2010/main" val="1579011935"/>
              </p:ext>
            </p:extLst>
          </p:nvPr>
        </p:nvGraphicFramePr>
        <p:xfrm>
          <a:off x="6355080" y="3017520"/>
          <a:ext cx="5285232" cy="2926080"/>
        </p:xfrm>
        <a:graphic>
          <a:graphicData uri="http://schemas.openxmlformats.org/drawingml/2006/table">
            <a:tbl>
              <a:tblPr/>
              <a:tblGrid>
                <a:gridCol w="914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chemeClr val="bg1"/>
                          </a:solidFill>
                        </a:rPr>
                        <a:t>Cluster</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Size</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Genres present</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65760">
                <a:tc>
                  <a:txBody>
                    <a:bodyPr/>
                    <a:lstStyle/>
                    <a:p>
                      <a:pPr marL="0" indent="0" algn="ctr">
                        <a:buNone/>
                      </a:pPr>
                      <a:r>
                        <a:rPr lang="en-US" sz="1200" b="1" dirty="0">
                          <a:solidFill>
                            <a:schemeClr val="tx1"/>
                          </a:solidFill>
                        </a:rPr>
                        <a:t>0</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7</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 Hip-Hop, R&amp;B, EDM</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5760">
                <a:tc>
                  <a:txBody>
                    <a:bodyPr/>
                    <a:lstStyle/>
                    <a:p>
                      <a:pPr marL="0" indent="0" algn="ctr">
                        <a:buNone/>
                      </a:pPr>
                      <a:r>
                        <a:rPr lang="en-US" sz="1200" b="1" dirty="0">
                          <a:solidFill>
                            <a:schemeClr val="tx1"/>
                          </a:solidFill>
                        </a:rPr>
                        <a:t>1</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2"/>
                          </a:solidFill>
                        </a:rPr>
                        <a:t>6</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 R&amp;B, Rock</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indent="0" algn="ctr">
                        <a:buNone/>
                      </a:pPr>
                      <a:r>
                        <a:rPr lang="en-US" sz="1200" b="1" dirty="0">
                          <a:solidFill>
                            <a:schemeClr val="tx1"/>
                          </a:solidFill>
                        </a:rPr>
                        <a:t>2</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5</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 EDM</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65760">
                <a:tc>
                  <a:txBody>
                    <a:bodyPr/>
                    <a:lstStyle/>
                    <a:p>
                      <a:pPr marL="0" indent="0" algn="ctr">
                        <a:buNone/>
                      </a:pPr>
                      <a:r>
                        <a:rPr lang="en-US" sz="1200" b="1" dirty="0">
                          <a:solidFill>
                            <a:schemeClr val="tx1"/>
                          </a:solidFill>
                        </a:rPr>
                        <a:t>3</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2"/>
                          </a:solidFill>
                        </a:rPr>
                        <a:t>5</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 R&amp;B, Latin</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indent="0" algn="ctr">
                        <a:buNone/>
                      </a:pPr>
                      <a:r>
                        <a:rPr lang="en-US" sz="1200" b="1" dirty="0">
                          <a:solidFill>
                            <a:schemeClr val="tx1"/>
                          </a:solidFill>
                        </a:rPr>
                        <a:t>4</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4</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Pop, EDM</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65760">
                <a:tc>
                  <a:txBody>
                    <a:bodyPr/>
                    <a:lstStyle/>
                    <a:p>
                      <a:pPr marL="0" indent="0" algn="ctr">
                        <a:buNone/>
                      </a:pPr>
                      <a:r>
                        <a:rPr lang="en-US" sz="1200" b="1" dirty="0">
                          <a:solidFill>
                            <a:schemeClr val="tx1"/>
                          </a:solidFill>
                        </a:rPr>
                        <a:t>5</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2"/>
                          </a:solidFill>
                        </a:rPr>
                        <a:t>2</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Hip-Hop, R&amp;B</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5760">
                <a:tc>
                  <a:txBody>
                    <a:bodyPr/>
                    <a:lstStyle/>
                    <a:p>
                      <a:pPr marL="0" indent="0" algn="ctr">
                        <a:buNone/>
                      </a:pPr>
                      <a:r>
                        <a:rPr lang="en-US" sz="1200" b="1" dirty="0">
                          <a:solidFill>
                            <a:schemeClr val="tx1"/>
                          </a:solidFill>
                        </a:rPr>
                        <a:t>6</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1</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Rock</a:t>
                      </a:r>
                      <a:endParaRPr lang="en-US" sz="1200" dirty="0"/>
                    </a:p>
                  </a:txBody>
                  <a:tcPr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11" name="Modularity note"/>
          <p:cNvSpPr txBox="1"/>
          <p:nvPr/>
        </p:nvSpPr>
        <p:spPr>
          <a:xfrm>
            <a:off x="6355080" y="6126480"/>
            <a:ext cx="5285232" cy="228600"/>
          </a:xfrm>
          <a:prstGeom prst="rect">
            <a:avLst/>
          </a:prstGeom>
          <a:noFill/>
          <a:ln/>
        </p:spPr>
        <p:txBody>
          <a:bodyPr wrap="square" lIns="0" tIns="0" rIns="0" bIns="0" rtlCol="0" anchor="t"/>
          <a:lstStyle/>
          <a:p>
            <a:pPr marL="0" indent="0">
              <a:buNone/>
            </a:pPr>
            <a:r>
              <a:rPr lang="en-US" sz="1200" dirty="0">
                <a:solidFill>
                  <a:schemeClr val="tx2"/>
                </a:solidFill>
              </a:rPr>
              <a:t>greedy_modularity_communities gives k = 7 (modularity Q = 0.68).</a:t>
            </a:r>
            <a:endParaRPr lang="en-US" sz="12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Interactive version in D3.js</a:t>
            </a:r>
            <a:endParaRPr lang="en-US" sz="3400" dirty="0"/>
          </a:p>
        </p:txBody>
      </p:sp>
      <p:sp>
        <p:nvSpPr>
          <p:cNvPr id="3" name="Icon Force-directed graph circle"/>
          <p:cNvSpPr/>
          <p:nvPr/>
        </p:nvSpPr>
        <p:spPr>
          <a:xfrm>
            <a:off x="548640" y="1463040"/>
            <a:ext cx="548640" cy="548640"/>
          </a:xfrm>
          <a:prstGeom prst="ellipse">
            <a:avLst/>
          </a:prstGeom>
          <a:solidFill>
            <a:schemeClr val="accent2"/>
          </a:solidFill>
          <a:ln/>
        </p:spPr>
        <p:txBody>
          <a:bodyPr/>
          <a:lstStyle/>
          <a:p>
            <a:endParaRPr lang="en-US"/>
          </a:p>
        </p:txBody>
      </p:sp>
      <p:pic>
        <p:nvPicPr>
          <p:cNvPr id="4" name="Image 0" descr="Icon Force-directed graph"/>
          <p:cNvPicPr>
            <a:picLocks noChangeAspect="1"/>
          </p:cNvPicPr>
          <p:nvPr/>
        </p:nvPicPr>
        <p:blipFill>
          <a:blip r:embed="rId3"/>
          <a:stretch>
            <a:fillRect/>
          </a:stretch>
        </p:blipFill>
        <p:spPr>
          <a:xfrm>
            <a:off x="696773" y="1611173"/>
            <a:ext cx="252374" cy="252374"/>
          </a:xfrm>
          <a:prstGeom prst="rect">
            <a:avLst/>
          </a:prstGeom>
        </p:spPr>
      </p:pic>
      <p:sp>
        <p:nvSpPr>
          <p:cNvPr id="5" name="Feature Force-directed graph"/>
          <p:cNvSpPr txBox="1"/>
          <p:nvPr/>
        </p:nvSpPr>
        <p:spPr>
          <a:xfrm>
            <a:off x="1280160" y="1426464"/>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Force-directed graph</a:t>
            </a:r>
            <a:endParaRPr lang="en-US" sz="1400" dirty="0"/>
          </a:p>
          <a:p>
            <a:pPr marL="0" indent="0">
              <a:buNone/>
            </a:pPr>
            <a:r>
              <a:rPr lang="en-US" sz="1500" dirty="0">
                <a:solidFill>
                  <a:schemeClr val="tx2"/>
                </a:solidFill>
              </a:rPr>
              <a:t>Drag nodes, zoom and pan. Node size shows degree.</a:t>
            </a:r>
            <a:endParaRPr lang="en-US" sz="1400" dirty="0"/>
          </a:p>
        </p:txBody>
      </p:sp>
      <p:sp>
        <p:nvSpPr>
          <p:cNvPr id="6" name="Icon Hover detail circle"/>
          <p:cNvSpPr/>
          <p:nvPr/>
        </p:nvSpPr>
        <p:spPr>
          <a:xfrm>
            <a:off x="548640" y="2267712"/>
            <a:ext cx="548640" cy="548640"/>
          </a:xfrm>
          <a:prstGeom prst="ellipse">
            <a:avLst/>
          </a:prstGeom>
          <a:solidFill>
            <a:schemeClr val="accent2"/>
          </a:solidFill>
          <a:ln/>
        </p:spPr>
        <p:txBody>
          <a:bodyPr/>
          <a:lstStyle/>
          <a:p>
            <a:endParaRPr lang="en-US"/>
          </a:p>
        </p:txBody>
      </p:sp>
      <p:pic>
        <p:nvPicPr>
          <p:cNvPr id="7" name="Image 1" descr="Icon Hover detail"/>
          <p:cNvPicPr>
            <a:picLocks noChangeAspect="1"/>
          </p:cNvPicPr>
          <p:nvPr/>
        </p:nvPicPr>
        <p:blipFill>
          <a:blip r:embed="rId4"/>
          <a:stretch>
            <a:fillRect/>
          </a:stretch>
        </p:blipFill>
        <p:spPr>
          <a:xfrm>
            <a:off x="696773" y="2415845"/>
            <a:ext cx="252374" cy="252374"/>
          </a:xfrm>
          <a:prstGeom prst="rect">
            <a:avLst/>
          </a:prstGeom>
        </p:spPr>
      </p:pic>
      <p:sp>
        <p:nvSpPr>
          <p:cNvPr id="8" name="Feature Hover detail"/>
          <p:cNvSpPr txBox="1"/>
          <p:nvPr/>
        </p:nvSpPr>
        <p:spPr>
          <a:xfrm>
            <a:off x="1280160" y="2231136"/>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Hover detail</a:t>
            </a:r>
            <a:endParaRPr lang="en-US" sz="1400" dirty="0"/>
          </a:p>
          <a:p>
            <a:pPr marL="0" indent="0">
              <a:buNone/>
            </a:pPr>
            <a:r>
              <a:rPr lang="en-US" sz="1500" dirty="0">
                <a:solidFill>
                  <a:schemeClr val="tx2"/>
                </a:solidFill>
              </a:rPr>
              <a:t>Tooltips give genre, degree and who the artist worked with.</a:t>
            </a:r>
            <a:endParaRPr lang="en-US" sz="1400" dirty="0"/>
          </a:p>
        </p:txBody>
      </p:sp>
      <p:sp>
        <p:nvSpPr>
          <p:cNvPr id="9" name="Icon Ego-network click circle"/>
          <p:cNvSpPr/>
          <p:nvPr/>
        </p:nvSpPr>
        <p:spPr>
          <a:xfrm>
            <a:off x="548640" y="3072384"/>
            <a:ext cx="548640" cy="548640"/>
          </a:xfrm>
          <a:prstGeom prst="ellipse">
            <a:avLst/>
          </a:prstGeom>
          <a:solidFill>
            <a:schemeClr val="accent2"/>
          </a:solidFill>
          <a:ln/>
        </p:spPr>
        <p:txBody>
          <a:bodyPr/>
          <a:lstStyle/>
          <a:p>
            <a:endParaRPr lang="en-US"/>
          </a:p>
        </p:txBody>
      </p:sp>
      <p:pic>
        <p:nvPicPr>
          <p:cNvPr id="10" name="Image 2" descr="Icon Ego-network click"/>
          <p:cNvPicPr>
            <a:picLocks noChangeAspect="1"/>
          </p:cNvPicPr>
          <p:nvPr/>
        </p:nvPicPr>
        <p:blipFill>
          <a:blip r:embed="rId5"/>
          <a:stretch>
            <a:fillRect/>
          </a:stretch>
        </p:blipFill>
        <p:spPr>
          <a:xfrm>
            <a:off x="696773" y="3220517"/>
            <a:ext cx="252374" cy="252374"/>
          </a:xfrm>
          <a:prstGeom prst="rect">
            <a:avLst/>
          </a:prstGeom>
        </p:spPr>
      </p:pic>
      <p:sp>
        <p:nvSpPr>
          <p:cNvPr id="11" name="Feature Ego-network click"/>
          <p:cNvSpPr txBox="1"/>
          <p:nvPr/>
        </p:nvSpPr>
        <p:spPr>
          <a:xfrm>
            <a:off x="1280160" y="3035808"/>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Ego-network click</a:t>
            </a:r>
            <a:endParaRPr lang="en-US" sz="1400" dirty="0"/>
          </a:p>
          <a:p>
            <a:pPr marL="0" indent="0">
              <a:buNone/>
            </a:pPr>
            <a:r>
              <a:rPr lang="en-US" sz="1500" dirty="0">
                <a:solidFill>
                  <a:schemeClr val="tx2"/>
                </a:solidFill>
              </a:rPr>
              <a:t>Click a node or a bar to isolate that artist's neighbourhood.</a:t>
            </a:r>
            <a:endParaRPr lang="en-US" sz="1400" dirty="0"/>
          </a:p>
        </p:txBody>
      </p:sp>
      <p:sp>
        <p:nvSpPr>
          <p:cNvPr id="12" name="Icon Genre filter circle"/>
          <p:cNvSpPr/>
          <p:nvPr/>
        </p:nvSpPr>
        <p:spPr>
          <a:xfrm>
            <a:off x="548640" y="3877056"/>
            <a:ext cx="548640" cy="548640"/>
          </a:xfrm>
          <a:prstGeom prst="ellipse">
            <a:avLst/>
          </a:prstGeom>
          <a:solidFill>
            <a:schemeClr val="accent2"/>
          </a:solidFill>
          <a:ln/>
        </p:spPr>
        <p:txBody>
          <a:bodyPr/>
          <a:lstStyle/>
          <a:p>
            <a:endParaRPr lang="en-US"/>
          </a:p>
        </p:txBody>
      </p:sp>
      <p:pic>
        <p:nvPicPr>
          <p:cNvPr id="13" name="Image 3" descr="Icon Genre filter"/>
          <p:cNvPicPr>
            <a:picLocks noChangeAspect="1"/>
          </p:cNvPicPr>
          <p:nvPr/>
        </p:nvPicPr>
        <p:blipFill>
          <a:blip r:embed="rId6"/>
          <a:stretch>
            <a:fillRect/>
          </a:stretch>
        </p:blipFill>
        <p:spPr>
          <a:xfrm>
            <a:off x="696773" y="4025189"/>
            <a:ext cx="252374" cy="252374"/>
          </a:xfrm>
          <a:prstGeom prst="rect">
            <a:avLst/>
          </a:prstGeom>
        </p:spPr>
      </p:pic>
      <p:sp>
        <p:nvSpPr>
          <p:cNvPr id="14" name="Feature Genre filter"/>
          <p:cNvSpPr txBox="1"/>
          <p:nvPr/>
        </p:nvSpPr>
        <p:spPr>
          <a:xfrm>
            <a:off x="1280160" y="3840480"/>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Genre filter</a:t>
            </a:r>
            <a:endParaRPr lang="en-US" sz="1400" dirty="0"/>
          </a:p>
          <a:p>
            <a:pPr marL="0" indent="0">
              <a:buNone/>
            </a:pPr>
            <a:r>
              <a:rPr lang="en-US" sz="1500" dirty="0">
                <a:solidFill>
                  <a:schemeClr val="tx2"/>
                </a:solidFill>
              </a:rPr>
              <a:t>Legend chips dim a genre in both the graph and the bars.</a:t>
            </a:r>
            <a:endParaRPr lang="en-US" sz="1400" dirty="0"/>
          </a:p>
        </p:txBody>
      </p:sp>
      <p:sp>
        <p:nvSpPr>
          <p:cNvPr id="15" name="Icon Colour toggle circle"/>
          <p:cNvSpPr/>
          <p:nvPr/>
        </p:nvSpPr>
        <p:spPr>
          <a:xfrm>
            <a:off x="548640" y="4681728"/>
            <a:ext cx="548640" cy="548640"/>
          </a:xfrm>
          <a:prstGeom prst="ellipse">
            <a:avLst/>
          </a:prstGeom>
          <a:solidFill>
            <a:schemeClr val="accent2"/>
          </a:solidFill>
          <a:ln/>
        </p:spPr>
        <p:txBody>
          <a:bodyPr/>
          <a:lstStyle/>
          <a:p>
            <a:endParaRPr lang="en-US"/>
          </a:p>
        </p:txBody>
      </p:sp>
      <p:pic>
        <p:nvPicPr>
          <p:cNvPr id="16" name="Image 4" descr="Icon Colour toggle"/>
          <p:cNvPicPr>
            <a:picLocks noChangeAspect="1"/>
          </p:cNvPicPr>
          <p:nvPr/>
        </p:nvPicPr>
        <p:blipFill>
          <a:blip r:embed="rId7"/>
          <a:stretch>
            <a:fillRect/>
          </a:stretch>
        </p:blipFill>
        <p:spPr>
          <a:xfrm>
            <a:off x="696773" y="4829861"/>
            <a:ext cx="252374" cy="252374"/>
          </a:xfrm>
          <a:prstGeom prst="rect">
            <a:avLst/>
          </a:prstGeom>
        </p:spPr>
      </p:pic>
      <p:sp>
        <p:nvSpPr>
          <p:cNvPr id="17" name="Feature Colour toggle"/>
          <p:cNvSpPr txBox="1"/>
          <p:nvPr/>
        </p:nvSpPr>
        <p:spPr>
          <a:xfrm>
            <a:off x="1280160" y="4645152"/>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Colour toggle</a:t>
            </a:r>
            <a:endParaRPr lang="en-US" sz="1400" dirty="0"/>
          </a:p>
          <a:p>
            <a:pPr marL="0" indent="0">
              <a:buNone/>
            </a:pPr>
            <a:r>
              <a:rPr lang="en-US" sz="1500" dirty="0">
                <a:solidFill>
                  <a:schemeClr val="tx2"/>
                </a:solidFill>
              </a:rPr>
              <a:t>Switch between genre colour and detected cluster.</a:t>
            </a:r>
            <a:endParaRPr lang="en-US" sz="1400" dirty="0"/>
          </a:p>
        </p:txBody>
      </p:sp>
      <p:sp>
        <p:nvSpPr>
          <p:cNvPr id="18" name="Icon Linked bar chart circle"/>
          <p:cNvSpPr/>
          <p:nvPr/>
        </p:nvSpPr>
        <p:spPr>
          <a:xfrm>
            <a:off x="548640" y="5486400"/>
            <a:ext cx="548640" cy="548640"/>
          </a:xfrm>
          <a:prstGeom prst="ellipse">
            <a:avLst/>
          </a:prstGeom>
          <a:solidFill>
            <a:schemeClr val="accent2"/>
          </a:solidFill>
          <a:ln/>
        </p:spPr>
        <p:txBody>
          <a:bodyPr/>
          <a:lstStyle/>
          <a:p>
            <a:endParaRPr lang="en-US"/>
          </a:p>
        </p:txBody>
      </p:sp>
      <p:pic>
        <p:nvPicPr>
          <p:cNvPr id="19" name="Image 5" descr="Icon Linked bar chart"/>
          <p:cNvPicPr>
            <a:picLocks noChangeAspect="1"/>
          </p:cNvPicPr>
          <p:nvPr/>
        </p:nvPicPr>
        <p:blipFill>
          <a:blip r:embed="rId8"/>
          <a:stretch>
            <a:fillRect/>
          </a:stretch>
        </p:blipFill>
        <p:spPr>
          <a:xfrm>
            <a:off x="696773" y="5634533"/>
            <a:ext cx="252374" cy="252374"/>
          </a:xfrm>
          <a:prstGeom prst="rect">
            <a:avLst/>
          </a:prstGeom>
        </p:spPr>
      </p:pic>
      <p:sp>
        <p:nvSpPr>
          <p:cNvPr id="20" name="Feature Linked bar chart"/>
          <p:cNvSpPr txBox="1"/>
          <p:nvPr/>
        </p:nvSpPr>
        <p:spPr>
          <a:xfrm>
            <a:off x="1280160" y="5449824"/>
            <a:ext cx="5120640" cy="685800"/>
          </a:xfrm>
          <a:prstGeom prst="rect">
            <a:avLst/>
          </a:prstGeom>
          <a:noFill/>
          <a:ln/>
        </p:spPr>
        <p:txBody>
          <a:bodyPr wrap="square" lIns="0" tIns="0" rIns="0" bIns="0" rtlCol="0" anchor="ctr"/>
          <a:lstStyle/>
          <a:p>
            <a:pPr marL="0" indent="0">
              <a:buNone/>
            </a:pPr>
            <a:r>
              <a:rPr lang="en-US" sz="1700" b="1" dirty="0">
                <a:solidFill>
                  <a:schemeClr val="tx1"/>
                </a:solidFill>
              </a:rPr>
              <a:t>Linked bar chart</a:t>
            </a:r>
            <a:endParaRPr lang="en-US" sz="1400" dirty="0"/>
          </a:p>
          <a:p>
            <a:pPr marL="0" indent="0">
              <a:buNone/>
            </a:pPr>
            <a:r>
              <a:rPr lang="en-US" sz="1500" dirty="0">
                <a:solidFill>
                  <a:schemeClr val="tx2"/>
                </a:solidFill>
              </a:rPr>
              <a:t>Sort by degree or A-Z; show Top 5, 10, 15 or All.</a:t>
            </a:r>
            <a:endParaRPr lang="en-US" sz="1400" dirty="0"/>
          </a:p>
        </p:txBody>
      </p:sp>
      <p:sp>
        <p:nvSpPr>
          <p:cNvPr id="21" name="Linked views card"/>
          <p:cNvSpPr/>
          <p:nvPr/>
        </p:nvSpPr>
        <p:spPr>
          <a:xfrm>
            <a:off x="6766560" y="1463040"/>
            <a:ext cx="4873752" cy="4754880"/>
          </a:xfrm>
          <a:prstGeom prst="roundRect">
            <a:avLst>
              <a:gd name="adj" fmla="val 1538"/>
            </a:avLst>
          </a:prstGeom>
          <a:solidFill>
            <a:schemeClr val="bg2"/>
          </a:solidFill>
          <a:ln/>
        </p:spPr>
        <p:txBody>
          <a:bodyPr/>
          <a:lstStyle/>
          <a:p>
            <a:endParaRPr lang="en-US"/>
          </a:p>
        </p:txBody>
      </p:sp>
      <p:sp>
        <p:nvSpPr>
          <p:cNvPr id="22" name="Network graph"/>
          <p:cNvSpPr/>
          <p:nvPr/>
        </p:nvSpPr>
        <p:spPr>
          <a:xfrm>
            <a:off x="7132320" y="1737360"/>
            <a:ext cx="4142232" cy="960120"/>
          </a:xfrm>
          <a:prstGeom prst="roundRect">
            <a:avLst>
              <a:gd name="adj" fmla="val 7619"/>
            </a:avLst>
          </a:prstGeom>
          <a:solidFill>
            <a:schemeClr val="tx1"/>
          </a:solidFill>
          <a:ln/>
        </p:spPr>
        <p:txBody>
          <a:bodyPr/>
          <a:lstStyle/>
          <a:p>
            <a:endParaRPr lang="en-US"/>
          </a:p>
        </p:txBody>
      </p:sp>
      <p:sp>
        <p:nvSpPr>
          <p:cNvPr id="23" name="Network graph label"/>
          <p:cNvSpPr txBox="1"/>
          <p:nvPr/>
        </p:nvSpPr>
        <p:spPr>
          <a:xfrm>
            <a:off x="7132320" y="1737360"/>
            <a:ext cx="4142232" cy="960120"/>
          </a:xfrm>
          <a:prstGeom prst="rect">
            <a:avLst/>
          </a:prstGeom>
          <a:noFill/>
          <a:ln/>
        </p:spPr>
        <p:txBody>
          <a:bodyPr wrap="square" lIns="0" tIns="0" rIns="0" bIns="0" rtlCol="0" anchor="ctr"/>
          <a:lstStyle/>
          <a:p>
            <a:pPr marL="0" indent="0" algn="ctr">
              <a:buNone/>
            </a:pPr>
            <a:r>
              <a:rPr lang="en-US" sz="1800" b="1" dirty="0">
                <a:solidFill>
                  <a:schemeClr val="bg1"/>
                </a:solidFill>
              </a:rPr>
              <a:t>Network graph</a:t>
            </a:r>
            <a:endParaRPr lang="en-US" sz="1800" dirty="0"/>
          </a:p>
        </p:txBody>
      </p:sp>
      <p:sp>
        <p:nvSpPr>
          <p:cNvPr id="24" name="Bar chart"/>
          <p:cNvSpPr/>
          <p:nvPr/>
        </p:nvSpPr>
        <p:spPr>
          <a:xfrm>
            <a:off x="7132320" y="4937760"/>
            <a:ext cx="4142232" cy="960120"/>
          </a:xfrm>
          <a:prstGeom prst="roundRect">
            <a:avLst>
              <a:gd name="adj" fmla="val 7619"/>
            </a:avLst>
          </a:prstGeom>
          <a:solidFill>
            <a:schemeClr val="tx1"/>
          </a:solidFill>
          <a:ln/>
        </p:spPr>
        <p:txBody>
          <a:bodyPr/>
          <a:lstStyle/>
          <a:p>
            <a:endParaRPr lang="en-US"/>
          </a:p>
        </p:txBody>
      </p:sp>
      <p:sp>
        <p:nvSpPr>
          <p:cNvPr id="25" name="Bar chart label"/>
          <p:cNvSpPr txBox="1"/>
          <p:nvPr/>
        </p:nvSpPr>
        <p:spPr>
          <a:xfrm>
            <a:off x="7132320" y="4937760"/>
            <a:ext cx="4142232" cy="960120"/>
          </a:xfrm>
          <a:prstGeom prst="rect">
            <a:avLst/>
          </a:prstGeom>
          <a:noFill/>
          <a:ln/>
        </p:spPr>
        <p:txBody>
          <a:bodyPr wrap="square" lIns="0" tIns="0" rIns="0" bIns="0" rtlCol="0" anchor="ctr"/>
          <a:lstStyle/>
          <a:p>
            <a:pPr marL="0" indent="0" algn="ctr">
              <a:buNone/>
            </a:pPr>
            <a:r>
              <a:rPr lang="en-US" sz="1800" b="1" dirty="0">
                <a:solidFill>
                  <a:schemeClr val="bg1"/>
                </a:solidFill>
              </a:rPr>
              <a:t>Bar chart</a:t>
            </a:r>
            <a:endParaRPr lang="en-US" sz="1800" dirty="0"/>
          </a:p>
        </p:txBody>
      </p:sp>
      <p:sp>
        <p:nvSpPr>
          <p:cNvPr id="26" name="Two-way link arrow"/>
          <p:cNvSpPr/>
          <p:nvPr/>
        </p:nvSpPr>
        <p:spPr>
          <a:xfrm>
            <a:off x="7315200" y="2880360"/>
            <a:ext cx="502920" cy="1828800"/>
          </a:xfrm>
          <a:prstGeom prst="upDownArrow">
            <a:avLst/>
          </a:prstGeom>
          <a:solidFill>
            <a:schemeClr val="accent1"/>
          </a:solidFill>
          <a:ln/>
        </p:spPr>
        <p:txBody>
          <a:bodyPr/>
          <a:lstStyle/>
          <a:p>
            <a:endParaRPr lang="en-US"/>
          </a:p>
        </p:txBody>
      </p:sp>
      <p:sp>
        <p:nvSpPr>
          <p:cNvPr id="27" name="Linked interactions"/>
          <p:cNvSpPr txBox="1"/>
          <p:nvPr/>
        </p:nvSpPr>
        <p:spPr>
          <a:xfrm>
            <a:off x="8092440" y="2926080"/>
            <a:ext cx="3383280" cy="1737360"/>
          </a:xfrm>
          <a:prstGeom prst="rect">
            <a:avLst/>
          </a:prstGeom>
          <a:noFill/>
          <a:ln/>
        </p:spPr>
        <p:txBody>
          <a:bodyPr wrap="square" lIns="0" tIns="0" rIns="0" bIns="0" rtlCol="0" anchor="ctr"/>
          <a:lstStyle/>
          <a:p>
            <a:pPr marL="0" indent="0">
              <a:spcAft>
                <a:spcPts val="800"/>
              </a:spcAft>
              <a:buNone/>
            </a:pPr>
            <a:r>
              <a:rPr lang="en-US" sz="1400" b="1" dirty="0">
                <a:solidFill>
                  <a:schemeClr val="tx1"/>
                </a:solidFill>
              </a:rPr>
              <a:t>Hover: highlights both ways</a:t>
            </a:r>
            <a:endParaRPr lang="en-US" sz="1400" dirty="0"/>
          </a:p>
          <a:p>
            <a:pPr marL="0" indent="0">
              <a:spcAft>
                <a:spcPts val="800"/>
              </a:spcAft>
              <a:buNone/>
            </a:pPr>
            <a:r>
              <a:rPr lang="en-US" sz="1400" b="1" dirty="0">
                <a:solidFill>
                  <a:schemeClr val="tx1"/>
                </a:solidFill>
              </a:rPr>
              <a:t>Click: isolates the ego-network</a:t>
            </a:r>
            <a:endParaRPr lang="en-US" sz="1400" dirty="0"/>
          </a:p>
          <a:p>
            <a:pPr marL="0" indent="0">
              <a:spcAft>
                <a:spcPts val="800"/>
              </a:spcAft>
              <a:buNone/>
            </a:pPr>
            <a:r>
              <a:rPr lang="en-US" sz="1400" b="1" dirty="0">
                <a:solidFill>
                  <a:schemeClr val="tx1"/>
                </a:solidFill>
              </a:rPr>
              <a:t>Filter: dims a genre in both</a:t>
            </a:r>
            <a:endParaRPr lang="en-US" sz="1400" dirty="0"/>
          </a:p>
        </p:txBody>
      </p:sp>
      <p:sp>
        <p:nvSpPr>
          <p:cNvPr id="28"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Key outcomes</a:t>
            </a:r>
            <a:endParaRPr lang="en-US" sz="3400" dirty="0"/>
          </a:p>
        </p:txBody>
      </p:sp>
      <p:sp>
        <p:nvSpPr>
          <p:cNvPr id="3" name="Outcome card 1"/>
          <p:cNvSpPr/>
          <p:nvPr/>
        </p:nvSpPr>
        <p:spPr>
          <a:xfrm>
            <a:off x="548640" y="1463040"/>
            <a:ext cx="5408676" cy="2286000"/>
          </a:xfrm>
          <a:prstGeom prst="roundRect">
            <a:avLst>
              <a:gd name="adj" fmla="val 3200"/>
            </a:avLst>
          </a:prstGeom>
          <a:solidFill>
            <a:schemeClr val="bg2"/>
          </a:solidFill>
          <a:ln/>
        </p:spPr>
        <p:txBody>
          <a:bodyPr/>
          <a:lstStyle/>
          <a:p>
            <a:endParaRPr lang="en-US"/>
          </a:p>
        </p:txBody>
      </p:sp>
      <p:sp>
        <p:nvSpPr>
          <p:cNvPr id="4" name="Outcome number 1"/>
          <p:cNvSpPr txBox="1"/>
          <p:nvPr/>
        </p:nvSpPr>
        <p:spPr>
          <a:xfrm>
            <a:off x="822960" y="1645920"/>
            <a:ext cx="1737360" cy="1920240"/>
          </a:xfrm>
          <a:prstGeom prst="rect">
            <a:avLst/>
          </a:prstGeom>
          <a:noFill/>
          <a:ln/>
        </p:spPr>
        <p:txBody>
          <a:bodyPr wrap="square" lIns="0" tIns="0" rIns="0" bIns="0" rtlCol="0" anchor="ctr"/>
          <a:lstStyle/>
          <a:p>
            <a:pPr marL="0" indent="0">
              <a:buNone/>
            </a:pPr>
            <a:r>
              <a:rPr lang="en-US" sz="4800" b="1" dirty="0">
                <a:solidFill>
                  <a:schemeClr val="accent2"/>
                </a:solidFill>
                <a:latin typeface="Cambria" pitchFamily="34" charset="0"/>
                <a:ea typeface="Cambria" pitchFamily="34" charset="-122"/>
                <a:cs typeface="Cambria" pitchFamily="34" charset="-120"/>
              </a:rPr>
              <a:t>4</a:t>
            </a:r>
            <a:endParaRPr lang="en-US" sz="4800" dirty="0"/>
          </a:p>
        </p:txBody>
      </p:sp>
      <p:sp>
        <p:nvSpPr>
          <p:cNvPr id="5" name="Outcome text 1"/>
          <p:cNvSpPr txBox="1"/>
          <p:nvPr/>
        </p:nvSpPr>
        <p:spPr>
          <a:xfrm>
            <a:off x="2651760" y="1645920"/>
            <a:ext cx="3063240" cy="192024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Drake is the hub</a:t>
            </a:r>
            <a:endParaRPr lang="en-US" sz="1400" dirty="0"/>
          </a:p>
          <a:p>
            <a:pPr marL="0" indent="0">
              <a:spcAft>
                <a:spcPts val="600"/>
              </a:spcAft>
              <a:buNone/>
            </a:pPr>
            <a:r>
              <a:rPr lang="en-US" sz="1600" dirty="0">
                <a:solidFill>
                  <a:schemeClr val="tx2"/>
                </a:solidFill>
              </a:rPr>
              <a:t>Highest degree, 2.3x the average. His four collaborators span Hip-Hop, R&amp;B and Latin.</a:t>
            </a:r>
            <a:endParaRPr lang="en-US" sz="1400" dirty="0"/>
          </a:p>
        </p:txBody>
      </p:sp>
      <p:sp>
        <p:nvSpPr>
          <p:cNvPr id="6" name="Outcome card 2"/>
          <p:cNvSpPr/>
          <p:nvPr/>
        </p:nvSpPr>
        <p:spPr>
          <a:xfrm>
            <a:off x="6231636" y="1463040"/>
            <a:ext cx="5408676" cy="2286000"/>
          </a:xfrm>
          <a:prstGeom prst="roundRect">
            <a:avLst>
              <a:gd name="adj" fmla="val 3200"/>
            </a:avLst>
          </a:prstGeom>
          <a:solidFill>
            <a:schemeClr val="bg2"/>
          </a:solidFill>
          <a:ln/>
        </p:spPr>
        <p:txBody>
          <a:bodyPr/>
          <a:lstStyle/>
          <a:p>
            <a:endParaRPr lang="en-US"/>
          </a:p>
        </p:txBody>
      </p:sp>
      <p:sp>
        <p:nvSpPr>
          <p:cNvPr id="7" name="Outcome number 2"/>
          <p:cNvSpPr txBox="1"/>
          <p:nvPr/>
        </p:nvSpPr>
        <p:spPr>
          <a:xfrm>
            <a:off x="6505956" y="1645920"/>
            <a:ext cx="1737360" cy="1920240"/>
          </a:xfrm>
          <a:prstGeom prst="rect">
            <a:avLst/>
          </a:prstGeom>
          <a:noFill/>
          <a:ln/>
        </p:spPr>
        <p:txBody>
          <a:bodyPr wrap="square" lIns="0" tIns="0" rIns="0" bIns="0" rtlCol="0" anchor="ctr"/>
          <a:lstStyle/>
          <a:p>
            <a:pPr marL="0" indent="0">
              <a:buNone/>
            </a:pPr>
            <a:r>
              <a:rPr lang="en-US" sz="4800" b="1" dirty="0">
                <a:solidFill>
                  <a:schemeClr val="accent2"/>
                </a:solidFill>
                <a:latin typeface="Cambria" pitchFamily="34" charset="0"/>
                <a:ea typeface="Cambria" pitchFamily="34" charset="-122"/>
                <a:cs typeface="Cambria" pitchFamily="34" charset="-120"/>
              </a:rPr>
              <a:t>5</a:t>
            </a:r>
            <a:endParaRPr lang="en-US" sz="4800" dirty="0"/>
          </a:p>
        </p:txBody>
      </p:sp>
      <p:sp>
        <p:nvSpPr>
          <p:cNvPr id="8" name="Outcome text 2"/>
          <p:cNvSpPr txBox="1"/>
          <p:nvPr/>
        </p:nvSpPr>
        <p:spPr>
          <a:xfrm>
            <a:off x="8334756" y="1645920"/>
            <a:ext cx="3063240" cy="192024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A sparse, fragmented network</a:t>
            </a:r>
            <a:endParaRPr lang="en-US" sz="1400" dirty="0"/>
          </a:p>
          <a:p>
            <a:pPr marL="0" indent="0">
              <a:spcAft>
                <a:spcPts val="600"/>
              </a:spcAft>
              <a:buNone/>
            </a:pPr>
            <a:r>
              <a:rPr lang="en-US" sz="1600" dirty="0">
                <a:solidFill>
                  <a:schemeClr val="tx2"/>
                </a:solidFill>
              </a:rPr>
              <a:t>Density is 0.06 and there are five components; the largest holds 18 of 30 artists.</a:t>
            </a:r>
            <a:endParaRPr lang="en-US" sz="1400" dirty="0"/>
          </a:p>
        </p:txBody>
      </p:sp>
      <p:sp>
        <p:nvSpPr>
          <p:cNvPr id="9" name="Outcome card 3"/>
          <p:cNvSpPr/>
          <p:nvPr/>
        </p:nvSpPr>
        <p:spPr>
          <a:xfrm>
            <a:off x="548640" y="3931920"/>
            <a:ext cx="5408676" cy="2286000"/>
          </a:xfrm>
          <a:prstGeom prst="roundRect">
            <a:avLst>
              <a:gd name="adj" fmla="val 3200"/>
            </a:avLst>
          </a:prstGeom>
          <a:solidFill>
            <a:schemeClr val="bg2"/>
          </a:solidFill>
          <a:ln/>
        </p:spPr>
        <p:txBody>
          <a:bodyPr/>
          <a:lstStyle/>
          <a:p>
            <a:endParaRPr lang="en-US"/>
          </a:p>
        </p:txBody>
      </p:sp>
      <p:sp>
        <p:nvSpPr>
          <p:cNvPr id="10" name="Outcome number 3"/>
          <p:cNvSpPr txBox="1"/>
          <p:nvPr/>
        </p:nvSpPr>
        <p:spPr>
          <a:xfrm>
            <a:off x="822960" y="4114800"/>
            <a:ext cx="1737360" cy="1920240"/>
          </a:xfrm>
          <a:prstGeom prst="rect">
            <a:avLst/>
          </a:prstGeom>
          <a:noFill/>
          <a:ln/>
        </p:spPr>
        <p:txBody>
          <a:bodyPr wrap="square" lIns="0" tIns="0" rIns="0" bIns="0" rtlCol="0" anchor="ctr"/>
          <a:lstStyle/>
          <a:p>
            <a:pPr marL="0" indent="0">
              <a:buNone/>
            </a:pPr>
            <a:r>
              <a:rPr lang="en-US" sz="4800" b="1" dirty="0">
                <a:solidFill>
                  <a:schemeClr val="accent2"/>
                </a:solidFill>
                <a:latin typeface="Cambria" pitchFamily="34" charset="0"/>
                <a:ea typeface="Cambria" pitchFamily="34" charset="-122"/>
                <a:cs typeface="Cambria" pitchFamily="34" charset="-120"/>
              </a:rPr>
              <a:t>50%</a:t>
            </a:r>
            <a:endParaRPr lang="en-US" sz="4800" dirty="0"/>
          </a:p>
        </p:txBody>
      </p:sp>
      <p:sp>
        <p:nvSpPr>
          <p:cNvPr id="11" name="Outcome text 3"/>
          <p:cNvSpPr txBox="1"/>
          <p:nvPr/>
        </p:nvSpPr>
        <p:spPr>
          <a:xfrm>
            <a:off x="2651760" y="4114800"/>
            <a:ext cx="3063240" cy="192024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Half the artists are on the fringe</a:t>
            </a:r>
            <a:endParaRPr lang="en-US" sz="1400" dirty="0"/>
          </a:p>
          <a:p>
            <a:pPr marL="0" indent="0">
              <a:spcAft>
                <a:spcPts val="600"/>
              </a:spcAft>
              <a:buNone/>
            </a:pPr>
            <a:r>
              <a:rPr lang="en-US" sz="1600" dirty="0">
                <a:solidFill>
                  <a:schemeClr val="tx2"/>
                </a:solidFill>
              </a:rPr>
              <a:t>15 of 30 have at most one collaboration: 14 pendent vertices and Twenty One Pilots.</a:t>
            </a:r>
            <a:endParaRPr lang="en-US" sz="1400" dirty="0"/>
          </a:p>
        </p:txBody>
      </p:sp>
      <p:sp>
        <p:nvSpPr>
          <p:cNvPr id="12" name="Outcome card 4"/>
          <p:cNvSpPr/>
          <p:nvPr/>
        </p:nvSpPr>
        <p:spPr>
          <a:xfrm>
            <a:off x="6231636" y="3931920"/>
            <a:ext cx="5408676" cy="2286000"/>
          </a:xfrm>
          <a:prstGeom prst="roundRect">
            <a:avLst>
              <a:gd name="adj" fmla="val 3200"/>
            </a:avLst>
          </a:prstGeom>
          <a:solidFill>
            <a:schemeClr val="bg2"/>
          </a:solidFill>
          <a:ln/>
        </p:spPr>
        <p:txBody>
          <a:bodyPr/>
          <a:lstStyle/>
          <a:p>
            <a:endParaRPr lang="en-US"/>
          </a:p>
        </p:txBody>
      </p:sp>
      <p:sp>
        <p:nvSpPr>
          <p:cNvPr id="13" name="Outcome number 4"/>
          <p:cNvSpPr txBox="1"/>
          <p:nvPr/>
        </p:nvSpPr>
        <p:spPr>
          <a:xfrm>
            <a:off x="6505956" y="4114800"/>
            <a:ext cx="1737360" cy="1920240"/>
          </a:xfrm>
          <a:prstGeom prst="rect">
            <a:avLst/>
          </a:prstGeom>
          <a:noFill/>
          <a:ln/>
        </p:spPr>
        <p:txBody>
          <a:bodyPr wrap="square" lIns="0" tIns="0" rIns="0" bIns="0" rtlCol="0" anchor="ctr"/>
          <a:lstStyle/>
          <a:p>
            <a:pPr marL="0" indent="0">
              <a:buNone/>
            </a:pPr>
            <a:r>
              <a:rPr lang="en-US" sz="4800" b="1" dirty="0">
                <a:solidFill>
                  <a:schemeClr val="accent2"/>
                </a:solidFill>
                <a:latin typeface="Cambria" pitchFamily="34" charset="0"/>
                <a:ea typeface="Cambria" pitchFamily="34" charset="-122"/>
                <a:cs typeface="Cambria" pitchFamily="34" charset="-120"/>
              </a:rPr>
              <a:t>65%</a:t>
            </a:r>
            <a:endParaRPr lang="en-US" sz="4800" dirty="0"/>
          </a:p>
        </p:txBody>
      </p:sp>
      <p:sp>
        <p:nvSpPr>
          <p:cNvPr id="14" name="Outcome text 4"/>
          <p:cNvSpPr txBox="1"/>
          <p:nvPr/>
        </p:nvSpPr>
        <p:spPr>
          <a:xfrm>
            <a:off x="8334756" y="4114800"/>
            <a:ext cx="3063240" cy="192024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Collaboration crosses genres</a:t>
            </a:r>
            <a:endParaRPr lang="en-US" sz="1400" dirty="0"/>
          </a:p>
          <a:p>
            <a:pPr marL="0" indent="0">
              <a:spcAft>
                <a:spcPts val="600"/>
              </a:spcAft>
              <a:buNone/>
            </a:pPr>
            <a:r>
              <a:rPr lang="en-US" sz="1600" dirty="0">
                <a:solidFill>
                  <a:schemeClr val="tx2"/>
                </a:solidFill>
              </a:rPr>
              <a:t>17 of 26 edges link different genres, and 6 of 7 detected clusters mix genres.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Conclusions</a:t>
            </a:r>
            <a:endParaRPr lang="en-US" sz="3400" dirty="0"/>
          </a:p>
        </p:txBody>
      </p:sp>
      <p:sp>
        <p:nvSpPr>
          <p:cNvPr id="3" name="Conclusion number circle 1"/>
          <p:cNvSpPr/>
          <p:nvPr/>
        </p:nvSpPr>
        <p:spPr>
          <a:xfrm>
            <a:off x="548640" y="1554480"/>
            <a:ext cx="685800" cy="685800"/>
          </a:xfrm>
          <a:prstGeom prst="ellipse">
            <a:avLst/>
          </a:prstGeom>
          <a:solidFill>
            <a:schemeClr val="accent1"/>
          </a:solidFill>
          <a:ln/>
        </p:spPr>
        <p:txBody>
          <a:bodyPr/>
          <a:lstStyle/>
          <a:p>
            <a:endParaRPr lang="en-US"/>
          </a:p>
        </p:txBody>
      </p:sp>
      <p:sp>
        <p:nvSpPr>
          <p:cNvPr id="4" name="Conclusion number 1"/>
          <p:cNvSpPr txBox="1"/>
          <p:nvPr/>
        </p:nvSpPr>
        <p:spPr>
          <a:xfrm>
            <a:off x="548640" y="1554480"/>
            <a:ext cx="685800" cy="685800"/>
          </a:xfrm>
          <a:prstGeom prst="rect">
            <a:avLst/>
          </a:prstGeom>
          <a:noFill/>
          <a:ln/>
        </p:spPr>
        <p:txBody>
          <a:bodyPr wrap="square" lIns="0" tIns="0" rIns="0" bIns="0" rtlCol="0" anchor="ctr"/>
          <a:lstStyle/>
          <a:p>
            <a:pPr marL="0" indent="0" algn="ctr">
              <a:buNone/>
            </a:pPr>
            <a:r>
              <a:rPr lang="en-US" sz="2400" b="1" dirty="0">
                <a:solidFill>
                  <a:schemeClr val="tx1"/>
                </a:solidFill>
              </a:rPr>
              <a:t>1</a:t>
            </a:r>
            <a:endParaRPr lang="en-US" sz="2400" dirty="0"/>
          </a:p>
        </p:txBody>
      </p:sp>
      <p:sp>
        <p:nvSpPr>
          <p:cNvPr id="5" name="Conclusion 1"/>
          <p:cNvSpPr txBox="1"/>
          <p:nvPr/>
        </p:nvSpPr>
        <p:spPr>
          <a:xfrm>
            <a:off x="1508760" y="1463040"/>
            <a:ext cx="10058400" cy="868680"/>
          </a:xfrm>
          <a:prstGeom prst="rect">
            <a:avLst/>
          </a:prstGeom>
          <a:noFill/>
          <a:ln/>
        </p:spPr>
        <p:txBody>
          <a:bodyPr wrap="square" lIns="0" tIns="0" rIns="0" bIns="0" rtlCol="0" anchor="ctr"/>
          <a:lstStyle/>
          <a:p>
            <a:pPr marL="0" indent="0">
              <a:buNone/>
            </a:pPr>
            <a:r>
              <a:rPr lang="en-US" sz="2000" dirty="0">
                <a:solidFill>
                  <a:schemeClr val="tx1"/>
                </a:solidFill>
              </a:rPr>
              <a:t>Modelling credits as a graph exposes structure a track list hides: hubs, bridges, pendent vertices and isolates.</a:t>
            </a:r>
            <a:endParaRPr lang="en-US" sz="2000" dirty="0"/>
          </a:p>
        </p:txBody>
      </p:sp>
      <p:sp>
        <p:nvSpPr>
          <p:cNvPr id="6" name="Conclusion number circle 2"/>
          <p:cNvSpPr/>
          <p:nvPr/>
        </p:nvSpPr>
        <p:spPr>
          <a:xfrm>
            <a:off x="548640" y="2761488"/>
            <a:ext cx="685800" cy="685800"/>
          </a:xfrm>
          <a:prstGeom prst="ellipse">
            <a:avLst/>
          </a:prstGeom>
          <a:solidFill>
            <a:schemeClr val="accent1"/>
          </a:solidFill>
          <a:ln/>
        </p:spPr>
        <p:txBody>
          <a:bodyPr/>
          <a:lstStyle/>
          <a:p>
            <a:endParaRPr lang="en-US"/>
          </a:p>
        </p:txBody>
      </p:sp>
      <p:sp>
        <p:nvSpPr>
          <p:cNvPr id="7" name="Conclusion number 2"/>
          <p:cNvSpPr txBox="1"/>
          <p:nvPr/>
        </p:nvSpPr>
        <p:spPr>
          <a:xfrm>
            <a:off x="548640" y="2761488"/>
            <a:ext cx="685800" cy="685800"/>
          </a:xfrm>
          <a:prstGeom prst="rect">
            <a:avLst/>
          </a:prstGeom>
          <a:noFill/>
          <a:ln/>
        </p:spPr>
        <p:txBody>
          <a:bodyPr wrap="square" lIns="0" tIns="0" rIns="0" bIns="0" rtlCol="0" anchor="ctr"/>
          <a:lstStyle/>
          <a:p>
            <a:pPr marL="0" indent="0" algn="ctr">
              <a:buNone/>
            </a:pPr>
            <a:r>
              <a:rPr lang="en-US" sz="2400" b="1" dirty="0">
                <a:solidFill>
                  <a:schemeClr val="tx1"/>
                </a:solidFill>
              </a:rPr>
              <a:t>2</a:t>
            </a:r>
            <a:endParaRPr lang="en-US" sz="2400" dirty="0"/>
          </a:p>
        </p:txBody>
      </p:sp>
      <p:sp>
        <p:nvSpPr>
          <p:cNvPr id="8" name="Conclusion 2"/>
          <p:cNvSpPr txBox="1"/>
          <p:nvPr/>
        </p:nvSpPr>
        <p:spPr>
          <a:xfrm>
            <a:off x="1508760" y="2670048"/>
            <a:ext cx="10058400" cy="868680"/>
          </a:xfrm>
          <a:prstGeom prst="rect">
            <a:avLst/>
          </a:prstGeom>
          <a:noFill/>
          <a:ln/>
        </p:spPr>
        <p:txBody>
          <a:bodyPr wrap="square" lIns="0" tIns="0" rIns="0" bIns="0" rtlCol="0" anchor="ctr"/>
          <a:lstStyle/>
          <a:p>
            <a:pPr marL="0" indent="0">
              <a:buNone/>
            </a:pPr>
            <a:r>
              <a:rPr lang="en-US" sz="2000" dirty="0">
                <a:solidFill>
                  <a:schemeClr val="tx1"/>
                </a:solidFill>
              </a:rPr>
              <a:t>Encoding choices carry the message: colour for genre, size for degree and layout proximity for collaboration.</a:t>
            </a:r>
            <a:endParaRPr lang="en-US" sz="2000" dirty="0"/>
          </a:p>
        </p:txBody>
      </p:sp>
      <p:sp>
        <p:nvSpPr>
          <p:cNvPr id="9" name="Conclusion number circle 3"/>
          <p:cNvSpPr/>
          <p:nvPr/>
        </p:nvSpPr>
        <p:spPr>
          <a:xfrm>
            <a:off x="548640" y="3968496"/>
            <a:ext cx="685800" cy="685800"/>
          </a:xfrm>
          <a:prstGeom prst="ellipse">
            <a:avLst/>
          </a:prstGeom>
          <a:solidFill>
            <a:schemeClr val="accent1"/>
          </a:solidFill>
          <a:ln/>
        </p:spPr>
        <p:txBody>
          <a:bodyPr/>
          <a:lstStyle/>
          <a:p>
            <a:endParaRPr lang="en-US"/>
          </a:p>
        </p:txBody>
      </p:sp>
      <p:sp>
        <p:nvSpPr>
          <p:cNvPr id="10" name="Conclusion number 3"/>
          <p:cNvSpPr txBox="1"/>
          <p:nvPr/>
        </p:nvSpPr>
        <p:spPr>
          <a:xfrm>
            <a:off x="548640" y="3968496"/>
            <a:ext cx="685800" cy="685800"/>
          </a:xfrm>
          <a:prstGeom prst="rect">
            <a:avLst/>
          </a:prstGeom>
          <a:noFill/>
          <a:ln/>
        </p:spPr>
        <p:txBody>
          <a:bodyPr wrap="square" lIns="0" tIns="0" rIns="0" bIns="0" rtlCol="0" anchor="ctr"/>
          <a:lstStyle/>
          <a:p>
            <a:pPr marL="0" indent="0" algn="ctr">
              <a:buNone/>
            </a:pPr>
            <a:r>
              <a:rPr lang="en-US" sz="2400" b="1" dirty="0">
                <a:solidFill>
                  <a:schemeClr val="tx1"/>
                </a:solidFill>
              </a:rPr>
              <a:t>3</a:t>
            </a:r>
            <a:endParaRPr lang="en-US" sz="2400" dirty="0"/>
          </a:p>
        </p:txBody>
      </p:sp>
      <p:sp>
        <p:nvSpPr>
          <p:cNvPr id="11" name="Conclusion 3"/>
          <p:cNvSpPr txBox="1"/>
          <p:nvPr/>
        </p:nvSpPr>
        <p:spPr>
          <a:xfrm>
            <a:off x="1508760" y="3877056"/>
            <a:ext cx="10058400" cy="868680"/>
          </a:xfrm>
          <a:prstGeom prst="rect">
            <a:avLst/>
          </a:prstGeom>
          <a:noFill/>
          <a:ln/>
        </p:spPr>
        <p:txBody>
          <a:bodyPr wrap="square" lIns="0" tIns="0" rIns="0" bIns="0" rtlCol="0" anchor="ctr"/>
          <a:lstStyle/>
          <a:p>
            <a:pPr marL="0" indent="0">
              <a:buNone/>
            </a:pPr>
            <a:r>
              <a:rPr lang="en-US" sz="2000" dirty="0">
                <a:solidFill>
                  <a:schemeClr val="tx1"/>
                </a:solidFill>
              </a:rPr>
              <a:t>Collaboration structure cuts across genre labels, so genre alone is a weak guide to creative circles.</a:t>
            </a:r>
            <a:endParaRPr lang="en-US" sz="2000" dirty="0"/>
          </a:p>
        </p:txBody>
      </p:sp>
      <p:sp>
        <p:nvSpPr>
          <p:cNvPr id="12" name="Conclusion number circle 4"/>
          <p:cNvSpPr/>
          <p:nvPr/>
        </p:nvSpPr>
        <p:spPr>
          <a:xfrm>
            <a:off x="548640" y="5175504"/>
            <a:ext cx="685800" cy="685800"/>
          </a:xfrm>
          <a:prstGeom prst="ellipse">
            <a:avLst/>
          </a:prstGeom>
          <a:solidFill>
            <a:schemeClr val="accent1"/>
          </a:solidFill>
          <a:ln/>
        </p:spPr>
        <p:txBody>
          <a:bodyPr/>
          <a:lstStyle/>
          <a:p>
            <a:endParaRPr lang="en-US"/>
          </a:p>
        </p:txBody>
      </p:sp>
      <p:sp>
        <p:nvSpPr>
          <p:cNvPr id="13" name="Conclusion number 4"/>
          <p:cNvSpPr txBox="1"/>
          <p:nvPr/>
        </p:nvSpPr>
        <p:spPr>
          <a:xfrm>
            <a:off x="548640" y="5175504"/>
            <a:ext cx="685800" cy="685800"/>
          </a:xfrm>
          <a:prstGeom prst="rect">
            <a:avLst/>
          </a:prstGeom>
          <a:noFill/>
          <a:ln/>
        </p:spPr>
        <p:txBody>
          <a:bodyPr wrap="square" lIns="0" tIns="0" rIns="0" bIns="0" rtlCol="0" anchor="ctr"/>
          <a:lstStyle/>
          <a:p>
            <a:pPr marL="0" indent="0" algn="ctr">
              <a:buNone/>
            </a:pPr>
            <a:r>
              <a:rPr lang="en-US" sz="2400" b="1" dirty="0">
                <a:solidFill>
                  <a:schemeClr val="tx1"/>
                </a:solidFill>
              </a:rPr>
              <a:t>4</a:t>
            </a:r>
            <a:endParaRPr lang="en-US" sz="2400" dirty="0"/>
          </a:p>
        </p:txBody>
      </p:sp>
      <p:sp>
        <p:nvSpPr>
          <p:cNvPr id="14" name="Conclusion 4"/>
          <p:cNvSpPr txBox="1"/>
          <p:nvPr/>
        </p:nvSpPr>
        <p:spPr>
          <a:xfrm>
            <a:off x="1508760" y="5084064"/>
            <a:ext cx="10058400" cy="868680"/>
          </a:xfrm>
          <a:prstGeom prst="rect">
            <a:avLst/>
          </a:prstGeom>
          <a:noFill/>
          <a:ln/>
        </p:spPr>
        <p:txBody>
          <a:bodyPr wrap="square" lIns="0" tIns="0" rIns="0" bIns="0" rtlCol="0" anchor="ctr"/>
          <a:lstStyle/>
          <a:p>
            <a:pPr marL="0" indent="0">
              <a:buNone/>
            </a:pPr>
            <a:r>
              <a:rPr lang="en-US" sz="2000" dirty="0">
                <a:solidFill>
                  <a:schemeClr val="tx1"/>
                </a:solidFill>
              </a:rPr>
              <a:t>The workflow is reproducible: one Python script makes every table and figure, and a D3 page makes it explorable.</a:t>
            </a:r>
            <a:endParaRPr lang="en-US" sz="2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rPr>
              <a:t>Limitations and future work</a:t>
            </a:r>
            <a:endParaRPr lang="en-US" sz="3400" dirty="0"/>
          </a:p>
        </p:txBody>
      </p:sp>
      <p:sp>
        <p:nvSpPr>
          <p:cNvPr id="3" name="Limitations card"/>
          <p:cNvSpPr/>
          <p:nvPr/>
        </p:nvSpPr>
        <p:spPr>
          <a:xfrm>
            <a:off x="548640" y="1463040"/>
            <a:ext cx="5408676" cy="4754880"/>
          </a:xfrm>
          <a:prstGeom prst="roundRect">
            <a:avLst>
              <a:gd name="adj" fmla="val 1538"/>
            </a:avLst>
          </a:prstGeom>
          <a:solidFill>
            <a:schemeClr val="bg2"/>
          </a:solidFill>
          <a:ln/>
        </p:spPr>
        <p:txBody>
          <a:bodyPr/>
          <a:lstStyle/>
          <a:p>
            <a:endParaRPr lang="en-US"/>
          </a:p>
        </p:txBody>
      </p:sp>
      <p:sp>
        <p:nvSpPr>
          <p:cNvPr id="4" name="Limitations icon circle"/>
          <p:cNvSpPr/>
          <p:nvPr/>
        </p:nvSpPr>
        <p:spPr>
          <a:xfrm>
            <a:off x="822960" y="1645920"/>
            <a:ext cx="548640" cy="548640"/>
          </a:xfrm>
          <a:prstGeom prst="ellipse">
            <a:avLst/>
          </a:prstGeom>
          <a:solidFill>
            <a:schemeClr val="accent3"/>
          </a:solidFill>
          <a:ln/>
        </p:spPr>
        <p:txBody>
          <a:bodyPr/>
          <a:lstStyle/>
          <a:p>
            <a:endParaRPr lang="en-US"/>
          </a:p>
        </p:txBody>
      </p:sp>
      <p:pic>
        <p:nvPicPr>
          <p:cNvPr id="5" name="Image 0" descr="Limitations icon"/>
          <p:cNvPicPr>
            <a:picLocks noChangeAspect="1"/>
          </p:cNvPicPr>
          <p:nvPr/>
        </p:nvPicPr>
        <p:blipFill>
          <a:blip r:embed="rId3"/>
          <a:stretch>
            <a:fillRect/>
          </a:stretch>
        </p:blipFill>
        <p:spPr>
          <a:xfrm>
            <a:off x="971093" y="1794053"/>
            <a:ext cx="252374" cy="252374"/>
          </a:xfrm>
          <a:prstGeom prst="rect">
            <a:avLst/>
          </a:prstGeom>
        </p:spPr>
      </p:pic>
      <p:sp>
        <p:nvSpPr>
          <p:cNvPr id="6" name="Limitations heading"/>
          <p:cNvSpPr txBox="1"/>
          <p:nvPr/>
        </p:nvSpPr>
        <p:spPr>
          <a:xfrm>
            <a:off x="1554480" y="1645920"/>
            <a:ext cx="4114800" cy="548640"/>
          </a:xfrm>
          <a:prstGeom prst="rect">
            <a:avLst/>
          </a:prstGeom>
          <a:noFill/>
          <a:ln/>
        </p:spPr>
        <p:txBody>
          <a:bodyPr wrap="square" lIns="0" tIns="0" rIns="0" bIns="0" rtlCol="0" anchor="ctr"/>
          <a:lstStyle/>
          <a:p>
            <a:pPr marL="0" indent="0">
              <a:buNone/>
            </a:pPr>
            <a:r>
              <a:rPr lang="en-US" sz="2200" b="1" dirty="0">
                <a:solidFill>
                  <a:schemeClr val="tx1"/>
                </a:solidFill>
              </a:rPr>
              <a:t>Limitations</a:t>
            </a:r>
            <a:endParaRPr lang="en-US" sz="2200" dirty="0"/>
          </a:p>
        </p:txBody>
      </p:sp>
      <p:sp>
        <p:nvSpPr>
          <p:cNvPr id="7" name="Limitations list"/>
          <p:cNvSpPr txBox="1"/>
          <p:nvPr/>
        </p:nvSpPr>
        <p:spPr>
          <a:xfrm>
            <a:off x="822960" y="2423160"/>
            <a:ext cx="489204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Small, hand-coded sample: 30 well-known artists and 26 collaborations typed into the script, not pulled from Spotify's API.</a:t>
            </a:r>
            <a:endParaRPr lang="en-US" sz="1500" dirty="0"/>
          </a:p>
          <a:p>
            <a:pPr marL="342900" indent="-342900">
              <a:spcAft>
                <a:spcPts val="800"/>
              </a:spcAft>
              <a:buSzPct val="100000"/>
              <a:buChar char="•"/>
            </a:pPr>
            <a:r>
              <a:rPr lang="en-US" sz="1500" dirty="0">
                <a:solidFill>
                  <a:schemeClr val="tx1"/>
                </a:solidFill>
              </a:rPr>
              <a:t>Edges are unweighted and undirected: no track counts, dates, or main-versus-featured roles.</a:t>
            </a:r>
            <a:endParaRPr lang="en-US" sz="1500" dirty="0"/>
          </a:p>
          <a:p>
            <a:pPr marL="342900" indent="-342900">
              <a:spcAft>
                <a:spcPts val="800"/>
              </a:spcAft>
              <a:buSzPct val="100000"/>
              <a:buChar char="•"/>
            </a:pPr>
            <a:r>
              <a:rPr lang="en-US" sz="1500" dirty="0">
                <a:solidFill>
                  <a:schemeClr val="tx1"/>
                </a:solidFill>
              </a:rPr>
              <a:t>Bridge is judged from genre-spanning neighbours; betweenness centrality was not computed.</a:t>
            </a:r>
            <a:endParaRPr lang="en-US" sz="1500" dirty="0"/>
          </a:p>
          <a:p>
            <a:pPr marL="342900" indent="-342900">
              <a:spcAft>
                <a:spcPts val="800"/>
              </a:spcAft>
              <a:buSzPct val="100000"/>
              <a:buChar char="•"/>
            </a:pPr>
            <a:r>
              <a:rPr lang="en-US" sz="1500" dirty="0">
                <a:solidFill>
                  <a:schemeClr val="tx1"/>
                </a:solidFill>
              </a:rPr>
              <a:t>Greedy modularity is a heuristic and the spring layout depends on its seed, so both can change the picture.</a:t>
            </a:r>
            <a:endParaRPr lang="en-US" sz="1500" dirty="0"/>
          </a:p>
          <a:p>
            <a:pPr marL="342900" indent="-342900">
              <a:spcAft>
                <a:spcPts val="800"/>
              </a:spcAft>
              <a:buSzPct val="100000"/>
              <a:buChar char="•"/>
            </a:pPr>
            <a:r>
              <a:rPr lang="en-US" sz="1500" dirty="0" err="1">
                <a:solidFill>
                  <a:schemeClr val="tx1"/>
                </a:solidFill>
              </a:rPr>
              <a:t>TwentyOne</a:t>
            </a:r>
            <a:r>
              <a:rPr lang="en-US" sz="1500" dirty="0">
                <a:solidFill>
                  <a:schemeClr val="tx1"/>
                </a:solidFill>
              </a:rPr>
              <a:t> Pilots as an isolate may reflect sampling, not behaviour.</a:t>
            </a:r>
            <a:endParaRPr lang="en-US" sz="1500" dirty="0"/>
          </a:p>
        </p:txBody>
      </p:sp>
      <p:sp>
        <p:nvSpPr>
          <p:cNvPr id="8" name="Future work card"/>
          <p:cNvSpPr/>
          <p:nvPr/>
        </p:nvSpPr>
        <p:spPr>
          <a:xfrm>
            <a:off x="6231636" y="1463040"/>
            <a:ext cx="5408676" cy="4754880"/>
          </a:xfrm>
          <a:prstGeom prst="roundRect">
            <a:avLst>
              <a:gd name="adj" fmla="val 1538"/>
            </a:avLst>
          </a:prstGeom>
          <a:solidFill>
            <a:schemeClr val="bg2"/>
          </a:solidFill>
          <a:ln/>
        </p:spPr>
        <p:txBody>
          <a:bodyPr/>
          <a:lstStyle/>
          <a:p>
            <a:endParaRPr lang="en-US"/>
          </a:p>
        </p:txBody>
      </p:sp>
      <p:sp>
        <p:nvSpPr>
          <p:cNvPr id="9" name="Future work icon circle"/>
          <p:cNvSpPr/>
          <p:nvPr/>
        </p:nvSpPr>
        <p:spPr>
          <a:xfrm>
            <a:off x="6505956" y="1645920"/>
            <a:ext cx="548640" cy="548640"/>
          </a:xfrm>
          <a:prstGeom prst="ellipse">
            <a:avLst/>
          </a:prstGeom>
          <a:solidFill>
            <a:schemeClr val="accent1"/>
          </a:solidFill>
          <a:ln/>
        </p:spPr>
        <p:txBody>
          <a:bodyPr/>
          <a:lstStyle/>
          <a:p>
            <a:endParaRPr lang="en-US"/>
          </a:p>
        </p:txBody>
      </p:sp>
      <p:pic>
        <p:nvPicPr>
          <p:cNvPr id="10" name="Image 1" descr="Future work icon"/>
          <p:cNvPicPr>
            <a:picLocks noChangeAspect="1"/>
          </p:cNvPicPr>
          <p:nvPr/>
        </p:nvPicPr>
        <p:blipFill>
          <a:blip r:embed="rId4"/>
          <a:stretch>
            <a:fillRect/>
          </a:stretch>
        </p:blipFill>
        <p:spPr>
          <a:xfrm>
            <a:off x="6654089" y="1794053"/>
            <a:ext cx="252374" cy="252374"/>
          </a:xfrm>
          <a:prstGeom prst="rect">
            <a:avLst/>
          </a:prstGeom>
        </p:spPr>
      </p:pic>
      <p:sp>
        <p:nvSpPr>
          <p:cNvPr id="11" name="Future work heading"/>
          <p:cNvSpPr txBox="1"/>
          <p:nvPr/>
        </p:nvSpPr>
        <p:spPr>
          <a:xfrm>
            <a:off x="7237476" y="1645920"/>
            <a:ext cx="4114800" cy="548640"/>
          </a:xfrm>
          <a:prstGeom prst="rect">
            <a:avLst/>
          </a:prstGeom>
          <a:noFill/>
          <a:ln/>
        </p:spPr>
        <p:txBody>
          <a:bodyPr wrap="square" lIns="0" tIns="0" rIns="0" bIns="0" rtlCol="0" anchor="ctr"/>
          <a:lstStyle/>
          <a:p>
            <a:pPr marL="0" indent="0">
              <a:buNone/>
            </a:pPr>
            <a:r>
              <a:rPr lang="en-US" sz="2200" b="1" dirty="0">
                <a:solidFill>
                  <a:schemeClr val="tx1"/>
                </a:solidFill>
              </a:rPr>
              <a:t>Future work</a:t>
            </a:r>
            <a:endParaRPr lang="en-US" sz="2200" dirty="0"/>
          </a:p>
        </p:txBody>
      </p:sp>
      <p:sp>
        <p:nvSpPr>
          <p:cNvPr id="12" name="Future work list"/>
          <p:cNvSpPr txBox="1"/>
          <p:nvPr/>
        </p:nvSpPr>
        <p:spPr>
          <a:xfrm>
            <a:off x="6505956" y="2423160"/>
            <a:ext cx="489204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Pull real collaboration data from the Spotify Web API or MusicBrainz and scale the sample up.</a:t>
            </a:r>
            <a:endParaRPr lang="en-US" sz="1500" dirty="0"/>
          </a:p>
          <a:p>
            <a:pPr marL="342900" indent="-342900">
              <a:spcAft>
                <a:spcPts val="800"/>
              </a:spcAft>
              <a:buSzPct val="100000"/>
              <a:buChar char="•"/>
            </a:pPr>
            <a:r>
              <a:rPr lang="en-US" sz="1500" dirty="0">
                <a:solidFill>
                  <a:schemeClr val="tx1"/>
                </a:solidFill>
              </a:rPr>
              <a:t>Weight edges by number of shared tracks and add time slices to show the network evolving.</a:t>
            </a:r>
            <a:endParaRPr lang="en-US" sz="1500" dirty="0"/>
          </a:p>
          <a:p>
            <a:pPr marL="342900" indent="-342900">
              <a:spcAft>
                <a:spcPts val="800"/>
              </a:spcAft>
              <a:buSzPct val="100000"/>
              <a:buChar char="•"/>
            </a:pPr>
            <a:r>
              <a:rPr lang="en-US" sz="1500" dirty="0">
                <a:solidFill>
                  <a:schemeClr val="tx1"/>
                </a:solidFill>
              </a:rPr>
              <a:t>Add betweenness and closeness centrality to test the bridge claim.</a:t>
            </a:r>
            <a:endParaRPr lang="en-US" sz="1500" dirty="0"/>
          </a:p>
          <a:p>
            <a:pPr marL="342900" indent="-342900">
              <a:spcAft>
                <a:spcPts val="800"/>
              </a:spcAft>
              <a:buSzPct val="100000"/>
              <a:buChar char="•"/>
            </a:pPr>
            <a:r>
              <a:rPr lang="en-US" sz="1500" dirty="0">
                <a:solidFill>
                  <a:schemeClr val="tx1"/>
                </a:solidFill>
              </a:rPr>
              <a:t>Compare Louvain or label-propagation communities with the greedy result.</a:t>
            </a:r>
            <a:endParaRPr lang="en-US" sz="1500" dirty="0"/>
          </a:p>
          <a:p>
            <a:pPr marL="342900" indent="-342900">
              <a:spcAft>
                <a:spcPts val="800"/>
              </a:spcAft>
              <a:buSzPct val="100000"/>
              <a:buChar char="•"/>
            </a:pPr>
            <a:r>
              <a:rPr lang="en-US" sz="1500" dirty="0">
                <a:solidFill>
                  <a:schemeClr val="tx1"/>
                </a:solidFill>
              </a:rPr>
              <a:t>Use adjacency-matrix or genre-aggregated views once the graph passes a few hundred nodes.</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800" b="1" dirty="0">
                <a:solidFill>
                  <a:schemeClr val="bg1"/>
                </a:solidFill>
              </a:rPr>
              <a:t>Questions and discussion</a:t>
            </a:r>
            <a:endParaRPr lang="en-US" sz="4800" dirty="0"/>
          </a:p>
        </p:txBody>
      </p:sp>
      <p:sp>
        <p:nvSpPr>
          <p:cNvPr id="3" name="Text 0"/>
          <p:cNvSpPr>
            <a:spLocks noGrp="1"/>
          </p:cNvSpPr>
          <p:nvPr>
            <p:ph type="body" idx="101" hasCustomPrompt="1"/>
          </p:nvPr>
        </p:nvSpPr>
        <p:spPr>
          <a:xfrm>
            <a:off x="731520" y="3840480"/>
            <a:ext cx="10698480" cy="731520"/>
          </a:xfrm>
          <a:prstGeom prst="rect">
            <a:avLst/>
          </a:prstGeom>
          <a:noFill/>
          <a:ln/>
        </p:spPr>
        <p:txBody>
          <a:bodyPr wrap="square" lIns="0" tIns="0" rIns="0" bIns="0" rtlCol="0" anchor="t"/>
          <a:lstStyle/>
          <a:p>
            <a:pPr marL="0" indent="0">
              <a:buNone/>
            </a:pPr>
            <a:r>
              <a:rPr lang="en-US" sz="2000" dirty="0"/>
              <a:t>Graph Visualization </a:t>
            </a:r>
          </a:p>
        </p:txBody>
      </p:sp>
    </p:spTree>
  </p:cSld>
  <p:clrMapOvr>
    <a:masterClrMapping/>
  </p:clrMapOvr>
</p:sld>
</file>

<file path=ppt/theme/theme1.xml><?xml version="1.0" encoding="utf-8"?>
<a:theme xmlns:a="http://schemas.openxmlformats.org/drawingml/2006/main" name="Spotify Network">
  <a:themeElements>
    <a:clrScheme name="Spotify Network">
      <a:dk1>
        <a:srgbClr val="14181F"/>
      </a:dk1>
      <a:lt1>
        <a:srgbClr val="FFFFFF"/>
      </a:lt1>
      <a:dk2>
        <a:srgbClr val="4A5362"/>
      </a:dk2>
      <a:lt2>
        <a:srgbClr val="F3F5F8"/>
      </a:lt2>
      <a:accent1>
        <a:srgbClr val="1DB954"/>
      </a:accent1>
      <a:accent2>
        <a:srgbClr val="457B9D"/>
      </a:accent2>
      <a:accent3>
        <a:srgbClr val="E63946"/>
      </a:accent3>
      <a:accent4>
        <a:srgbClr val="F4A261"/>
      </a:accent4>
      <a:accent5>
        <a:srgbClr val="2A9D8F"/>
      </a:accent5>
      <a:accent6>
        <a:srgbClr val="6A4C93"/>
      </a:accent6>
      <a:hlink>
        <a:srgbClr val="457B9D"/>
      </a:hlink>
      <a:folHlink>
        <a:srgbClr val="6A4C93"/>
      </a:folHlink>
    </a:clrScheme>
    <a:fontScheme name="Spotify Netwo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2403</Words>
  <Application>Microsoft Macintosh PowerPoint</Application>
  <PresentationFormat>Widescreen</PresentationFormat>
  <Paragraphs>426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Spotify Network</vt:lpstr>
      <vt:lpstr>Visualizing Music Networks</vt:lpstr>
      <vt:lpstr>Why map artist collaborations?</vt:lpstr>
      <vt:lpstr>Dataset: 30 artists, 26 collaborations</vt:lpstr>
      <vt:lpstr>Tools and libraries used</vt:lpstr>
      <vt:lpstr>Methodology: a six-part pipeline</vt:lpstr>
      <vt:lpstr>Graph fundamentals</vt:lpstr>
      <vt:lpstr>Visual mapping and Gestalt principles</vt:lpstr>
      <vt:lpstr>Results: graph metrics matrix</vt:lpstr>
      <vt:lpstr>Top connected artists by degree</vt:lpstr>
      <vt:lpstr>Degree distribution</vt:lpstr>
      <vt:lpstr>Degree table </vt:lpstr>
      <vt:lpstr>Genre labels vs detected clusters</vt:lpstr>
      <vt:lpstr>Interactive version in D3.js</vt:lpstr>
      <vt:lpstr>Key outcomes</vt:lpstr>
      <vt:lpstr>Conclusions</vt:lpstr>
      <vt:lpstr>Limitations and future work</vt:lpstr>
      <vt:lpstr>Questions and discussion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Music Networks: Spotify Artist Collaborations &amp; Genre Clusters</dc:title>
  <dc:subject>PptxGenJS Presentation</dc:subject>
  <dc:creator>Faizaan Khan</dc:creator>
  <cp:lastModifiedBy>Faizaan Javed Khan [CSE (DATA SCIENCE) - 2024]</cp:lastModifiedBy>
  <cp:revision>7</cp:revision>
  <dcterms:created xsi:type="dcterms:W3CDTF">2026-10-14T07:36:56Z</dcterms:created>
  <dcterms:modified xsi:type="dcterms:W3CDTF">2026-10-16T07:34:56Z</dcterms:modified>
</cp:coreProperties>
</file>